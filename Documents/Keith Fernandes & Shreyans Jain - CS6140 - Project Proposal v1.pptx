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Fira Sans Extra Condensed" panose="020B0503050000020004" pitchFamily="34" charset="0"/>
      <p:regular r:id="rId12"/>
      <p:bold r:id="rId13"/>
    </p:embeddedFont>
    <p:embeddedFont>
      <p:font typeface="Montserrat" pitchFamily="2" charset="0"/>
      <p:regular r:id="rId14"/>
      <p:bold r:id="rId15"/>
      <p:italic r:id="rId16"/>
      <p:boldItalic r:id="rId17"/>
    </p:embeddedFont>
    <p:embeddedFont>
      <p:font typeface="Montserrat Medium" pitchFamily="2" charset="0"/>
      <p:regular r:id="rId18"/>
      <p:bold r:id="rId19"/>
      <p:italic r:id="rId20"/>
      <p:boldItalic r:id="rId21"/>
    </p:embeddedFont>
    <p:embeddedFont>
      <p:font typeface="Montserrat SemiBold"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FB5B5F-A771-4541-9CE7-B6D1A107677A}" v="15" dt="2026-03-10T19:54:40.213"/>
    <p1510:client id="{5BA7039E-3A38-17C8-3481-14EE7B609B3F}" v="21" dt="2026-03-10T13:48:46.110"/>
    <p1510:client id="{E48A16E2-B567-AA55-F62B-EC21989334CC}" v="22" dt="2026-03-10T13:46:06.432"/>
  </p1510:revLst>
</p1510:revInfo>
</file>

<file path=ppt/tableStyles.xml><?xml version="1.0" encoding="utf-8"?>
<a:tblStyleLst xmlns:a="http://schemas.openxmlformats.org/drawingml/2006/main" def="{072BA60B-EF3E-49E8-B907-8F4B1DFF2932}">
  <a:tblStyle styleId="{072BA60B-EF3E-49E8-B907-8F4B1DFF2932}"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6" d="100"/>
          <a:sy n="146" d="100"/>
        </p:scale>
        <p:origin x="59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ith Fernandes" userId="32a03389372ee1af" providerId="LiveId" clId="{05EC5ABA-2B48-4355-B9D8-4278491CAC10}"/>
    <pc:docChg chg="undo custSel modSld">
      <pc:chgData name="Keith Fernandes" userId="32a03389372ee1af" providerId="LiveId" clId="{05EC5ABA-2B48-4355-B9D8-4278491CAC10}" dt="2026-03-10T19:58:12.937" v="148" actId="1076"/>
      <pc:docMkLst>
        <pc:docMk/>
      </pc:docMkLst>
      <pc:sldChg chg="addSp modSp mod">
        <pc:chgData name="Keith Fernandes" userId="32a03389372ee1af" providerId="LiveId" clId="{05EC5ABA-2B48-4355-B9D8-4278491CAC10}" dt="2026-03-10T19:58:12.937" v="148" actId="1076"/>
        <pc:sldMkLst>
          <pc:docMk/>
          <pc:sldMk cId="0" sldId="256"/>
        </pc:sldMkLst>
        <pc:spChg chg="add mod">
          <ac:chgData name="Keith Fernandes" userId="32a03389372ee1af" providerId="LiveId" clId="{05EC5ABA-2B48-4355-B9D8-4278491CAC10}" dt="2026-03-10T19:52:15.972" v="75"/>
          <ac:spMkLst>
            <pc:docMk/>
            <pc:sldMk cId="0" sldId="256"/>
            <ac:spMk id="2" creationId="{D522F802-E60D-FDCD-3EFB-B471EBCE5425}"/>
          </ac:spMkLst>
        </pc:spChg>
        <pc:spChg chg="mod">
          <ac:chgData name="Keith Fernandes" userId="32a03389372ee1af" providerId="LiveId" clId="{05EC5ABA-2B48-4355-B9D8-4278491CAC10}" dt="2026-03-10T19:58:12.937" v="148" actId="1076"/>
          <ac:spMkLst>
            <pc:docMk/>
            <pc:sldMk cId="0" sldId="256"/>
            <ac:spMk id="44" creationId="{00000000-0000-0000-0000-000000000000}"/>
          </ac:spMkLst>
        </pc:spChg>
        <pc:spChg chg="mod">
          <ac:chgData name="Keith Fernandes" userId="32a03389372ee1af" providerId="LiveId" clId="{05EC5ABA-2B48-4355-B9D8-4278491CAC10}" dt="2026-03-10T19:58:12.937" v="148" actId="1076"/>
          <ac:spMkLst>
            <pc:docMk/>
            <pc:sldMk cId="0" sldId="256"/>
            <ac:spMk id="45" creationId="{00000000-0000-0000-0000-000000000000}"/>
          </ac:spMkLst>
        </pc:spChg>
        <pc:spChg chg="mod">
          <ac:chgData name="Keith Fernandes" userId="32a03389372ee1af" providerId="LiveId" clId="{05EC5ABA-2B48-4355-B9D8-4278491CAC10}" dt="2026-03-10T19:58:12.937" v="148" actId="1076"/>
          <ac:spMkLst>
            <pc:docMk/>
            <pc:sldMk cId="0" sldId="256"/>
            <ac:spMk id="46" creationId="{00000000-0000-0000-0000-000000000000}"/>
          </ac:spMkLst>
        </pc:spChg>
      </pc:sldChg>
      <pc:sldChg chg="addSp delSp modSp mod">
        <pc:chgData name="Keith Fernandes" userId="32a03389372ee1af" providerId="LiveId" clId="{05EC5ABA-2B48-4355-B9D8-4278491CAC10}" dt="2026-03-10T19:53:18.316" v="94" actId="1076"/>
        <pc:sldMkLst>
          <pc:docMk/>
          <pc:sldMk cId="0" sldId="257"/>
        </pc:sldMkLst>
        <pc:spChg chg="add del mod">
          <ac:chgData name="Keith Fernandes" userId="32a03389372ee1af" providerId="LiveId" clId="{05EC5ABA-2B48-4355-B9D8-4278491CAC10}" dt="2026-03-10T19:52:04.641" v="74" actId="478"/>
          <ac:spMkLst>
            <pc:docMk/>
            <pc:sldMk cId="0" sldId="257"/>
            <ac:spMk id="2" creationId="{F1A6469D-2FAC-EF49-7DC3-29EFA698EE5D}"/>
          </ac:spMkLst>
        </pc:spChg>
        <pc:spChg chg="add mod">
          <ac:chgData name="Keith Fernandes" userId="32a03389372ee1af" providerId="LiveId" clId="{05EC5ABA-2B48-4355-B9D8-4278491CAC10}" dt="2026-03-10T19:53:18.316" v="94" actId="1076"/>
          <ac:spMkLst>
            <pc:docMk/>
            <pc:sldMk cId="0" sldId="257"/>
            <ac:spMk id="3" creationId="{6C9F7C98-C954-7CFD-1F31-7F55940A36D9}"/>
          </ac:spMkLst>
        </pc:spChg>
      </pc:sldChg>
      <pc:sldChg chg="addSp delSp modSp mod">
        <pc:chgData name="Keith Fernandes" userId="32a03389372ee1af" providerId="LiveId" clId="{05EC5ABA-2B48-4355-B9D8-4278491CAC10}" dt="2026-03-10T19:53:47.896" v="104" actId="20577"/>
        <pc:sldMkLst>
          <pc:docMk/>
          <pc:sldMk cId="0" sldId="258"/>
        </pc:sldMkLst>
        <pc:spChg chg="add mod">
          <ac:chgData name="Keith Fernandes" userId="32a03389372ee1af" providerId="LiveId" clId="{05EC5ABA-2B48-4355-B9D8-4278491CAC10}" dt="2026-03-10T19:52:00.376" v="73"/>
          <ac:spMkLst>
            <pc:docMk/>
            <pc:sldMk cId="0" sldId="258"/>
            <ac:spMk id="4" creationId="{A3C1A09D-95F8-0FFE-0B57-6B5801690C6D}"/>
          </ac:spMkLst>
        </pc:spChg>
        <pc:spChg chg="add mod">
          <ac:chgData name="Keith Fernandes" userId="32a03389372ee1af" providerId="LiveId" clId="{05EC5ABA-2B48-4355-B9D8-4278491CAC10}" dt="2026-03-10T19:53:47.896" v="104" actId="20577"/>
          <ac:spMkLst>
            <pc:docMk/>
            <pc:sldMk cId="0" sldId="258"/>
            <ac:spMk id="5" creationId="{2D5EFBFC-BC64-6EB6-13B2-89273808B2C3}"/>
          </ac:spMkLst>
        </pc:spChg>
        <pc:cxnChg chg="add mod">
          <ac:chgData name="Keith Fernandes" userId="32a03389372ee1af" providerId="LiveId" clId="{05EC5ABA-2B48-4355-B9D8-4278491CAC10}" dt="2026-03-10T19:47:11.048" v="8" actId="1076"/>
          <ac:cxnSpMkLst>
            <pc:docMk/>
            <pc:sldMk cId="0" sldId="258"/>
            <ac:cxnSpMk id="3" creationId="{3BB1107F-9B00-78D2-1596-08C4BD663E10}"/>
          </ac:cxnSpMkLst>
        </pc:cxnChg>
        <pc:cxnChg chg="mod">
          <ac:chgData name="Keith Fernandes" userId="32a03389372ee1af" providerId="LiveId" clId="{05EC5ABA-2B48-4355-B9D8-4278491CAC10}" dt="2026-03-10T19:47:05.973" v="6" actId="14100"/>
          <ac:cxnSpMkLst>
            <pc:docMk/>
            <pc:sldMk cId="0" sldId="258"/>
            <ac:cxnSpMk id="67" creationId="{00000000-0000-0000-0000-000000000000}"/>
          </ac:cxnSpMkLst>
        </pc:cxnChg>
        <pc:cxnChg chg="del mod">
          <ac:chgData name="Keith Fernandes" userId="32a03389372ee1af" providerId="LiveId" clId="{05EC5ABA-2B48-4355-B9D8-4278491CAC10}" dt="2026-03-10T19:47:02.871" v="5" actId="478"/>
          <ac:cxnSpMkLst>
            <pc:docMk/>
            <pc:sldMk cId="0" sldId="258"/>
            <ac:cxnSpMk id="80" creationId="{00000000-0000-0000-0000-000000000000}"/>
          </ac:cxnSpMkLst>
        </pc:cxnChg>
      </pc:sldChg>
      <pc:sldChg chg="addSp modSp mod">
        <pc:chgData name="Keith Fernandes" userId="32a03389372ee1af" providerId="LiveId" clId="{05EC5ABA-2B48-4355-B9D8-4278491CAC10}" dt="2026-03-10T19:53:54.267" v="108" actId="20577"/>
        <pc:sldMkLst>
          <pc:docMk/>
          <pc:sldMk cId="0" sldId="259"/>
        </pc:sldMkLst>
        <pc:spChg chg="add mod">
          <ac:chgData name="Keith Fernandes" userId="32a03389372ee1af" providerId="LiveId" clId="{05EC5ABA-2B48-4355-B9D8-4278491CAC10}" dt="2026-03-10T19:53:54.267" v="108" actId="20577"/>
          <ac:spMkLst>
            <pc:docMk/>
            <pc:sldMk cId="0" sldId="259"/>
            <ac:spMk id="2" creationId="{6641A6C7-1C1F-E486-61AA-F2704A4E49C5}"/>
          </ac:spMkLst>
        </pc:spChg>
      </pc:sldChg>
      <pc:sldChg chg="addSp modSp mod">
        <pc:chgData name="Keith Fernandes" userId="32a03389372ee1af" providerId="LiveId" clId="{05EC5ABA-2B48-4355-B9D8-4278491CAC10}" dt="2026-03-10T19:53:58.146" v="110" actId="20577"/>
        <pc:sldMkLst>
          <pc:docMk/>
          <pc:sldMk cId="0" sldId="260"/>
        </pc:sldMkLst>
        <pc:spChg chg="add mod">
          <ac:chgData name="Keith Fernandes" userId="32a03389372ee1af" providerId="LiveId" clId="{05EC5ABA-2B48-4355-B9D8-4278491CAC10}" dt="2026-03-10T19:53:58.146" v="110" actId="20577"/>
          <ac:spMkLst>
            <pc:docMk/>
            <pc:sldMk cId="0" sldId="260"/>
            <ac:spMk id="2" creationId="{4A0DF9CC-C583-C806-D9FE-F05F9BC33CFF}"/>
          </ac:spMkLst>
        </pc:spChg>
      </pc:sldChg>
      <pc:sldChg chg="addSp modSp mod">
        <pc:chgData name="Keith Fernandes" userId="32a03389372ee1af" providerId="LiveId" clId="{05EC5ABA-2B48-4355-B9D8-4278491CAC10}" dt="2026-03-10T19:54:01.694" v="111" actId="20577"/>
        <pc:sldMkLst>
          <pc:docMk/>
          <pc:sldMk cId="0" sldId="261"/>
        </pc:sldMkLst>
        <pc:spChg chg="add mod">
          <ac:chgData name="Keith Fernandes" userId="32a03389372ee1af" providerId="LiveId" clId="{05EC5ABA-2B48-4355-B9D8-4278491CAC10}" dt="2026-03-10T19:50:17.226" v="62" actId="255"/>
          <ac:spMkLst>
            <pc:docMk/>
            <pc:sldMk cId="0" sldId="261"/>
            <ac:spMk id="3" creationId="{F36A217D-DEC4-1166-A359-4A6DFDFD35FD}"/>
          </ac:spMkLst>
        </pc:spChg>
        <pc:spChg chg="add mod">
          <ac:chgData name="Keith Fernandes" userId="32a03389372ee1af" providerId="LiveId" clId="{05EC5ABA-2B48-4355-B9D8-4278491CAC10}" dt="2026-03-10T19:54:01.694" v="111" actId="20577"/>
          <ac:spMkLst>
            <pc:docMk/>
            <pc:sldMk cId="0" sldId="261"/>
            <ac:spMk id="4" creationId="{290F88CC-9D98-C309-B568-A42F535540A7}"/>
          </ac:spMkLst>
        </pc:spChg>
        <pc:spChg chg="mod">
          <ac:chgData name="Keith Fernandes" userId="32a03389372ee1af" providerId="LiveId" clId="{05EC5ABA-2B48-4355-B9D8-4278491CAC10}" dt="2026-03-10T19:49:20.696" v="46" actId="14100"/>
          <ac:spMkLst>
            <pc:docMk/>
            <pc:sldMk cId="0" sldId="261"/>
            <ac:spMk id="99" creationId="{00000000-0000-0000-0000-000000000000}"/>
          </ac:spMkLst>
        </pc:spChg>
        <pc:graphicFrameChg chg="modGraphic">
          <ac:chgData name="Keith Fernandes" userId="32a03389372ee1af" providerId="LiveId" clId="{05EC5ABA-2B48-4355-B9D8-4278491CAC10}" dt="2026-03-10T19:50:40.721" v="66" actId="2711"/>
          <ac:graphicFrameMkLst>
            <pc:docMk/>
            <pc:sldMk cId="0" sldId="261"/>
            <ac:graphicFrameMk id="100" creationId="{00000000-0000-0000-0000-000000000000}"/>
          </ac:graphicFrameMkLst>
        </pc:graphicFrameChg>
      </pc:sldChg>
      <pc:sldChg chg="addSp modSp mod">
        <pc:chgData name="Keith Fernandes" userId="32a03389372ee1af" providerId="LiveId" clId="{05EC5ABA-2B48-4355-B9D8-4278491CAC10}" dt="2026-03-10T19:54:04.884" v="112" actId="20577"/>
        <pc:sldMkLst>
          <pc:docMk/>
          <pc:sldMk cId="0" sldId="262"/>
        </pc:sldMkLst>
        <pc:spChg chg="add mod">
          <ac:chgData name="Keith Fernandes" userId="32a03389372ee1af" providerId="LiveId" clId="{05EC5ABA-2B48-4355-B9D8-4278491CAC10}" dt="2026-03-10T19:54:04.884" v="112" actId="20577"/>
          <ac:spMkLst>
            <pc:docMk/>
            <pc:sldMk cId="0" sldId="262"/>
            <ac:spMk id="2" creationId="{B85E3E18-7AD4-9845-17FD-36361FB12868}"/>
          </ac:spMkLst>
        </pc:spChg>
        <pc:spChg chg="mod">
          <ac:chgData name="Keith Fernandes" userId="32a03389372ee1af" providerId="LiveId" clId="{05EC5ABA-2B48-4355-B9D8-4278491CAC10}" dt="2026-03-10T19:51:09.582" v="67" actId="14100"/>
          <ac:spMkLst>
            <pc:docMk/>
            <pc:sldMk cId="0" sldId="262"/>
            <ac:spMk id="107" creationId="{00000000-0000-0000-0000-000000000000}"/>
          </ac:spMkLst>
        </pc:spChg>
        <pc:spChg chg="mod">
          <ac:chgData name="Keith Fernandes" userId="32a03389372ee1af" providerId="LiveId" clId="{05EC5ABA-2B48-4355-B9D8-4278491CAC10}" dt="2026-03-10T19:51:12.558" v="68" actId="14100"/>
          <ac:spMkLst>
            <pc:docMk/>
            <pc:sldMk cId="0" sldId="262"/>
            <ac:spMk id="109" creationId="{00000000-0000-0000-0000-000000000000}"/>
          </ac:spMkLst>
        </pc:spChg>
      </pc:sldChg>
      <pc:sldChg chg="addSp modSp mod">
        <pc:chgData name="Keith Fernandes" userId="32a03389372ee1af" providerId="LiveId" clId="{05EC5ABA-2B48-4355-B9D8-4278491CAC10}" dt="2026-03-10T19:54:08.835" v="114" actId="20577"/>
        <pc:sldMkLst>
          <pc:docMk/>
          <pc:sldMk cId="0" sldId="263"/>
        </pc:sldMkLst>
        <pc:spChg chg="add mod">
          <ac:chgData name="Keith Fernandes" userId="32a03389372ee1af" providerId="LiveId" clId="{05EC5ABA-2B48-4355-B9D8-4278491CAC10}" dt="2026-03-10T19:54:08.835" v="114" actId="20577"/>
          <ac:spMkLst>
            <pc:docMk/>
            <pc:sldMk cId="0" sldId="263"/>
            <ac:spMk id="2" creationId="{3095B28D-7035-4693-0A07-FA410A4A494C}"/>
          </ac:spMkLst>
        </pc:spChg>
        <pc:spChg chg="mod">
          <ac:chgData name="Keith Fernandes" userId="32a03389372ee1af" providerId="LiveId" clId="{05EC5ABA-2B48-4355-B9D8-4278491CAC10}" dt="2026-03-10T19:48:49.180" v="33" actId="20577"/>
          <ac:spMkLst>
            <pc:docMk/>
            <pc:sldMk cId="0" sldId="263"/>
            <ac:spMk id="117" creationId="{00000000-0000-0000-0000-000000000000}"/>
          </ac:spMkLst>
        </pc:spChg>
      </pc:sldChg>
      <pc:sldChg chg="modSp mod">
        <pc:chgData name="Keith Fernandes" userId="32a03389372ee1af" providerId="LiveId" clId="{05EC5ABA-2B48-4355-B9D8-4278491CAC10}" dt="2026-03-10T19:56:42.313" v="147" actId="122"/>
        <pc:sldMkLst>
          <pc:docMk/>
          <pc:sldMk cId="0" sldId="264"/>
        </pc:sldMkLst>
        <pc:spChg chg="mod">
          <ac:chgData name="Keith Fernandes" userId="32a03389372ee1af" providerId="LiveId" clId="{05EC5ABA-2B48-4355-B9D8-4278491CAC10}" dt="2026-03-10T19:56:42.313" v="147" actId="122"/>
          <ac:spMkLst>
            <pc:docMk/>
            <pc:sldMk cId="0" sldId="264"/>
            <ac:spMk id="123" creationId="{00000000-0000-0000-0000-000000000000}"/>
          </ac:spMkLst>
        </pc:spChg>
        <pc:spChg chg="mod">
          <ac:chgData name="Keith Fernandes" userId="32a03389372ee1af" providerId="LiveId" clId="{05EC5ABA-2B48-4355-B9D8-4278491CAC10}" dt="2026-03-10T19:56:26.722" v="144" actId="14100"/>
          <ac:spMkLst>
            <pc:docMk/>
            <pc:sldMk cId="0" sldId="264"/>
            <ac:spMk id="12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 name="Google Shape;4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 name="Google Shape;5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Our goal is to predict calorie expenditure from exercise data. This matters because current methods use generic formulas that don't personalize well. We want to find which ML approach gives the most accurate predictions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The main challenges are nonlinear feature relationships, complex interactions between variables, a wide prediction range requiring proportional accuracy, and the need to fairly compare many different models.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We're using the Kaggle Playground S5E5 dataset — 750,000 training samples, 7 features including sex, age, height, weight, duration, heart rate, and body temperature, predicting calories burned. There are no missing values. We'll engineer additional features like BMI and duration-times-heart-rate to capture interaction effects.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We're using the Kaggle Playground S5E5 dataset — 750,000 training samples, 7 features including sex, age, height, weight, duration, heart rate, and body temperature, predicting calories burned. There are no missing values. We'll engineer additional features like BMI and duration-times-heart-rate to capture interaction effects.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Our approach is to benchmark 12 regression models across four families. Linear models give us a baseline. Tree ensembles and gradient boosting handle nonlinearity. We evaluate all models under identical 5-fold cross-validation using RMSLE, then tune the winner. This gives us a rigorous comparison — not just 'we picked </a:t>
            </a:r>
            <a:r>
              <a:rPr lang="en-US" dirty="0" err="1"/>
              <a:t>XGBoost</a:t>
            </a:r>
            <a:r>
              <a:rPr lang="en-US" dirty="0"/>
              <a:t>' but a systematic study of what works best and why.</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Our approach is to benchmark 12 regression models across four families. Linear models give us a baseline. Tree ensembles and gradient boosting handle nonlinearity. We evaluate all models under identical 5-fold cross-validation using RMSLE, then tune the winner. This gives us a rigorous comparison — not just 'we picked XGBoost' but a systematic study of what works best and why.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Our final output will be a complete benchmarking comparison, feature importance analysis, and an optimized model. We expect gradient boosting methods to lead, and we'll validate whether our engineered features add predictive value.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1577992"/>
            <a:ext cx="4487400" cy="1557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5100" y="3135908"/>
            <a:ext cx="4487400" cy="42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Font typeface="Montserrat"/>
              <a:buNone/>
              <a:defRPr sz="1600">
                <a:latin typeface="Montserrat"/>
                <a:ea typeface="Montserrat"/>
                <a:cs typeface="Montserrat"/>
                <a:sym typeface="Montserrat"/>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Fira Sans Extra Condensed"/>
              <a:buNone/>
              <a:defRPr sz="2400" b="1">
                <a:solidFill>
                  <a:schemeClr val="dk1"/>
                </a:solidFill>
              </a:defRPr>
            </a:lvl1pPr>
            <a:lvl2pPr lvl="1"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720000" y="2179625"/>
            <a:ext cx="7704000" cy="841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4"/>
          <p:cNvSpPr txBox="1">
            <a:spLocks noGrp="1"/>
          </p:cNvSpPr>
          <p:nvPr>
            <p:ph type="title" idx="2"/>
          </p:nvPr>
        </p:nvSpPr>
        <p:spPr>
          <a:xfrm>
            <a:off x="2996550" y="1337825"/>
            <a:ext cx="31509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16" name="Google Shape;16;p4"/>
          <p:cNvSpPr txBox="1">
            <a:spLocks noGrp="1"/>
          </p:cNvSpPr>
          <p:nvPr>
            <p:ph type="subTitle" idx="1"/>
          </p:nvPr>
        </p:nvSpPr>
        <p:spPr>
          <a:xfrm>
            <a:off x="2391925" y="3132175"/>
            <a:ext cx="4360200" cy="713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rgbClr val="434343"/>
              </a:buClr>
              <a:buSzPts val="1400"/>
              <a:buChar char="●"/>
              <a:defRPr sz="1400">
                <a:solidFill>
                  <a:srgbClr val="434343"/>
                </a:solidFill>
              </a:defRPr>
            </a:lvl1pPr>
            <a:lvl2pPr marL="914400" lvl="1" indent="-304800" algn="l">
              <a:lnSpc>
                <a:spcPct val="115000"/>
              </a:lnSpc>
              <a:spcBef>
                <a:spcPts val="0"/>
              </a:spcBef>
              <a:spcAft>
                <a:spcPts val="0"/>
              </a:spcAft>
              <a:buClr>
                <a:srgbClr val="434343"/>
              </a:buClr>
              <a:buSzPts val="1200"/>
              <a:buChar char="○"/>
              <a:defRPr>
                <a:solidFill>
                  <a:srgbClr val="434343"/>
                </a:solidFill>
              </a:defRPr>
            </a:lvl2pPr>
            <a:lvl3pPr marL="1371600" lvl="2" indent="-304800" algn="l">
              <a:lnSpc>
                <a:spcPct val="115000"/>
              </a:lnSpc>
              <a:spcBef>
                <a:spcPts val="0"/>
              </a:spcBef>
              <a:spcAft>
                <a:spcPts val="0"/>
              </a:spcAft>
              <a:buClr>
                <a:srgbClr val="434343"/>
              </a:buClr>
              <a:buSzPts val="1200"/>
              <a:buChar char="■"/>
              <a:defRPr>
                <a:solidFill>
                  <a:srgbClr val="434343"/>
                </a:solidFill>
              </a:defRPr>
            </a:lvl3pPr>
            <a:lvl4pPr marL="1828800" lvl="3" indent="-304800" algn="l">
              <a:lnSpc>
                <a:spcPct val="115000"/>
              </a:lnSpc>
              <a:spcBef>
                <a:spcPts val="0"/>
              </a:spcBef>
              <a:spcAft>
                <a:spcPts val="0"/>
              </a:spcAft>
              <a:buClr>
                <a:srgbClr val="434343"/>
              </a:buClr>
              <a:buSzPts val="1200"/>
              <a:buChar char="●"/>
              <a:defRPr>
                <a:solidFill>
                  <a:srgbClr val="434343"/>
                </a:solidFill>
              </a:defRPr>
            </a:lvl4pPr>
            <a:lvl5pPr marL="2286000" lvl="4" indent="-304800" algn="l">
              <a:lnSpc>
                <a:spcPct val="115000"/>
              </a:lnSpc>
              <a:spcBef>
                <a:spcPts val="0"/>
              </a:spcBef>
              <a:spcAft>
                <a:spcPts val="0"/>
              </a:spcAft>
              <a:buClr>
                <a:srgbClr val="434343"/>
              </a:buClr>
              <a:buSzPts val="1200"/>
              <a:buChar char="○"/>
              <a:defRPr>
                <a:solidFill>
                  <a:srgbClr val="434343"/>
                </a:solidFill>
              </a:defRPr>
            </a:lvl5pPr>
            <a:lvl6pPr marL="2743200" lvl="5" indent="-304800" algn="l">
              <a:lnSpc>
                <a:spcPct val="115000"/>
              </a:lnSpc>
              <a:spcBef>
                <a:spcPts val="0"/>
              </a:spcBef>
              <a:spcAft>
                <a:spcPts val="0"/>
              </a:spcAft>
              <a:buClr>
                <a:srgbClr val="434343"/>
              </a:buClr>
              <a:buSzPts val="1200"/>
              <a:buChar char="■"/>
              <a:defRPr>
                <a:solidFill>
                  <a:srgbClr val="434343"/>
                </a:solidFill>
              </a:defRPr>
            </a:lvl6pPr>
            <a:lvl7pPr marL="3200400" lvl="6" indent="-304800" algn="l">
              <a:lnSpc>
                <a:spcPct val="115000"/>
              </a:lnSpc>
              <a:spcBef>
                <a:spcPts val="0"/>
              </a:spcBef>
              <a:spcAft>
                <a:spcPts val="0"/>
              </a:spcAft>
              <a:buClr>
                <a:srgbClr val="434343"/>
              </a:buClr>
              <a:buSzPts val="1200"/>
              <a:buChar char="●"/>
              <a:defRPr>
                <a:solidFill>
                  <a:srgbClr val="434343"/>
                </a:solidFill>
              </a:defRPr>
            </a:lvl7pPr>
            <a:lvl8pPr marL="3657600" lvl="7" indent="-304800" algn="l">
              <a:lnSpc>
                <a:spcPct val="115000"/>
              </a:lnSpc>
              <a:spcBef>
                <a:spcPts val="0"/>
              </a:spcBef>
              <a:spcAft>
                <a:spcPts val="0"/>
              </a:spcAft>
              <a:buClr>
                <a:srgbClr val="434343"/>
              </a:buClr>
              <a:buSzPts val="1200"/>
              <a:buChar char="○"/>
              <a:defRPr>
                <a:solidFill>
                  <a:srgbClr val="434343"/>
                </a:solidFill>
              </a:defRPr>
            </a:lvl8pPr>
            <a:lvl9pPr marL="4114800" lvl="8" indent="-304800" algn="l">
              <a:lnSpc>
                <a:spcPct val="115000"/>
              </a:lnSpc>
              <a:spcBef>
                <a:spcPts val="0"/>
              </a:spcBef>
              <a:spcAft>
                <a:spcPts val="0"/>
              </a:spcAft>
              <a:buClr>
                <a:srgbClr val="434343"/>
              </a:buClr>
              <a:buSzPts val="1200"/>
              <a:buChar char="■"/>
              <a:defRPr>
                <a:solidFill>
                  <a:srgbClr val="434343"/>
                </a:solidFill>
              </a:defRPr>
            </a:lvl9pPr>
          </a:lstStyle>
          <a:p>
            <a:endParaRPr/>
          </a:p>
        </p:txBody>
      </p:sp>
      <p:sp>
        <p:nvSpPr>
          <p:cNvPr id="19" name="Google Shape;19;p5"/>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Fira Sans Extra Condensed"/>
              <a:buNone/>
              <a:defRPr sz="2400" b="1">
                <a:solidFill>
                  <a:schemeClr val="dk1"/>
                </a:solidFill>
              </a:defRPr>
            </a:lvl1pPr>
            <a:lvl2pPr lvl="1"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subTitle" idx="1"/>
          </p:nvPr>
        </p:nvSpPr>
        <p:spPr>
          <a:xfrm>
            <a:off x="1181425" y="2303125"/>
            <a:ext cx="2907600" cy="713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2pPr>
            <a:lvl3pPr lvl="2"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3pPr>
            <a:lvl4pPr lvl="3"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4pPr>
            <a:lvl5pPr lvl="4"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5pPr>
            <a:lvl6pPr lvl="5"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6pPr>
            <a:lvl7pPr lvl="6"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7pPr>
            <a:lvl8pPr lvl="7"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8pPr>
            <a:lvl9pPr lvl="8"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9pPr>
          </a:lstStyle>
          <a:p>
            <a:endParaRPr/>
          </a:p>
        </p:txBody>
      </p:sp>
      <p:sp>
        <p:nvSpPr>
          <p:cNvPr id="22" name="Google Shape;22;p6"/>
          <p:cNvSpPr txBox="1">
            <a:spLocks noGrp="1"/>
          </p:cNvSpPr>
          <p:nvPr>
            <p:ph type="subTitle" idx="2"/>
          </p:nvPr>
        </p:nvSpPr>
        <p:spPr>
          <a:xfrm>
            <a:off x="4836300" y="2303125"/>
            <a:ext cx="2907600" cy="713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2pPr>
            <a:lvl3pPr lvl="2"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3pPr>
            <a:lvl4pPr lvl="3"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4pPr>
            <a:lvl5pPr lvl="4"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5pPr>
            <a:lvl6pPr lvl="5"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6pPr>
            <a:lvl7pPr lvl="6"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7pPr>
            <a:lvl8pPr lvl="7"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8pPr>
            <a:lvl9pPr lvl="8"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9pPr>
          </a:lstStyle>
          <a:p>
            <a:endParaRPr/>
          </a:p>
        </p:txBody>
      </p:sp>
      <p:sp>
        <p:nvSpPr>
          <p:cNvPr id="23" name="Google Shape;23;p6"/>
          <p:cNvSpPr txBox="1">
            <a:spLocks noGrp="1"/>
          </p:cNvSpPr>
          <p:nvPr>
            <p:ph type="subTitle" idx="3"/>
          </p:nvPr>
        </p:nvSpPr>
        <p:spPr>
          <a:xfrm>
            <a:off x="1181425" y="2917150"/>
            <a:ext cx="2907600" cy="713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4" name="Google Shape;24;p6"/>
          <p:cNvSpPr txBox="1">
            <a:spLocks noGrp="1"/>
          </p:cNvSpPr>
          <p:nvPr>
            <p:ph type="subTitle" idx="4"/>
          </p:nvPr>
        </p:nvSpPr>
        <p:spPr>
          <a:xfrm>
            <a:off x="4836300" y="2917150"/>
            <a:ext cx="2907600" cy="713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5" name="Google Shape;25;p6"/>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Fira Sans Extra Condensed"/>
              <a:buNone/>
              <a:defRPr sz="2400" b="1">
                <a:solidFill>
                  <a:schemeClr val="dk1"/>
                </a:solidFill>
              </a:defRPr>
            </a:lvl1pPr>
            <a:lvl2pPr lvl="1"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body" idx="1"/>
          </p:nvPr>
        </p:nvSpPr>
        <p:spPr>
          <a:xfrm>
            <a:off x="720000" y="1152475"/>
            <a:ext cx="33222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Clr>
                <a:srgbClr val="434343"/>
              </a:buClr>
              <a:buSzPts val="1400"/>
              <a:buChar char="●"/>
              <a:defRPr sz="1400">
                <a:solidFill>
                  <a:srgbClr val="434343"/>
                </a:solidFill>
              </a:defRPr>
            </a:lvl1pPr>
            <a:lvl2pPr marL="914400" lvl="1" indent="-304800" algn="l">
              <a:lnSpc>
                <a:spcPct val="115000"/>
              </a:lnSpc>
              <a:spcBef>
                <a:spcPts val="0"/>
              </a:spcBef>
              <a:spcAft>
                <a:spcPts val="0"/>
              </a:spcAft>
              <a:buClr>
                <a:srgbClr val="434343"/>
              </a:buClr>
              <a:buSzPts val="1200"/>
              <a:buChar char="○"/>
              <a:defRPr>
                <a:solidFill>
                  <a:srgbClr val="434343"/>
                </a:solidFill>
              </a:defRPr>
            </a:lvl2pPr>
            <a:lvl3pPr marL="1371600" lvl="2" indent="-304800" algn="l">
              <a:lnSpc>
                <a:spcPct val="115000"/>
              </a:lnSpc>
              <a:spcBef>
                <a:spcPts val="0"/>
              </a:spcBef>
              <a:spcAft>
                <a:spcPts val="0"/>
              </a:spcAft>
              <a:buClr>
                <a:srgbClr val="434343"/>
              </a:buClr>
              <a:buSzPts val="1200"/>
              <a:buChar char="■"/>
              <a:defRPr>
                <a:solidFill>
                  <a:srgbClr val="434343"/>
                </a:solidFill>
              </a:defRPr>
            </a:lvl3pPr>
            <a:lvl4pPr marL="1828800" lvl="3" indent="-304800" algn="l">
              <a:lnSpc>
                <a:spcPct val="115000"/>
              </a:lnSpc>
              <a:spcBef>
                <a:spcPts val="0"/>
              </a:spcBef>
              <a:spcAft>
                <a:spcPts val="0"/>
              </a:spcAft>
              <a:buClr>
                <a:srgbClr val="434343"/>
              </a:buClr>
              <a:buSzPts val="1200"/>
              <a:buChar char="●"/>
              <a:defRPr>
                <a:solidFill>
                  <a:srgbClr val="434343"/>
                </a:solidFill>
              </a:defRPr>
            </a:lvl4pPr>
            <a:lvl5pPr marL="2286000" lvl="4" indent="-304800" algn="l">
              <a:lnSpc>
                <a:spcPct val="115000"/>
              </a:lnSpc>
              <a:spcBef>
                <a:spcPts val="0"/>
              </a:spcBef>
              <a:spcAft>
                <a:spcPts val="0"/>
              </a:spcAft>
              <a:buClr>
                <a:srgbClr val="434343"/>
              </a:buClr>
              <a:buSzPts val="1200"/>
              <a:buChar char="○"/>
              <a:defRPr>
                <a:solidFill>
                  <a:srgbClr val="434343"/>
                </a:solidFill>
              </a:defRPr>
            </a:lvl5pPr>
            <a:lvl6pPr marL="2743200" lvl="5" indent="-304800" algn="l">
              <a:lnSpc>
                <a:spcPct val="115000"/>
              </a:lnSpc>
              <a:spcBef>
                <a:spcPts val="0"/>
              </a:spcBef>
              <a:spcAft>
                <a:spcPts val="0"/>
              </a:spcAft>
              <a:buClr>
                <a:srgbClr val="434343"/>
              </a:buClr>
              <a:buSzPts val="1200"/>
              <a:buChar char="■"/>
              <a:defRPr>
                <a:solidFill>
                  <a:srgbClr val="434343"/>
                </a:solidFill>
              </a:defRPr>
            </a:lvl6pPr>
            <a:lvl7pPr marL="3200400" lvl="6" indent="-304800" algn="l">
              <a:lnSpc>
                <a:spcPct val="115000"/>
              </a:lnSpc>
              <a:spcBef>
                <a:spcPts val="0"/>
              </a:spcBef>
              <a:spcAft>
                <a:spcPts val="0"/>
              </a:spcAft>
              <a:buClr>
                <a:srgbClr val="434343"/>
              </a:buClr>
              <a:buSzPts val="1200"/>
              <a:buChar char="●"/>
              <a:defRPr>
                <a:solidFill>
                  <a:srgbClr val="434343"/>
                </a:solidFill>
              </a:defRPr>
            </a:lvl7pPr>
            <a:lvl8pPr marL="3657600" lvl="7" indent="-304800" algn="l">
              <a:lnSpc>
                <a:spcPct val="115000"/>
              </a:lnSpc>
              <a:spcBef>
                <a:spcPts val="0"/>
              </a:spcBef>
              <a:spcAft>
                <a:spcPts val="0"/>
              </a:spcAft>
              <a:buClr>
                <a:srgbClr val="434343"/>
              </a:buClr>
              <a:buSzPts val="1200"/>
              <a:buChar char="○"/>
              <a:defRPr>
                <a:solidFill>
                  <a:srgbClr val="434343"/>
                </a:solidFill>
              </a:defRPr>
            </a:lvl8pPr>
            <a:lvl9pPr marL="4114800" lvl="8" indent="-304800" algn="l">
              <a:lnSpc>
                <a:spcPct val="115000"/>
              </a:lnSpc>
              <a:spcBef>
                <a:spcPts val="0"/>
              </a:spcBef>
              <a:spcAft>
                <a:spcPts val="0"/>
              </a:spcAft>
              <a:buClr>
                <a:srgbClr val="434343"/>
              </a:buClr>
              <a:buSzPts val="1200"/>
              <a:buChar char="■"/>
              <a:defRPr>
                <a:solidFill>
                  <a:srgbClr val="434343"/>
                </a:solidFill>
              </a:defRPr>
            </a:lvl9pPr>
          </a:lstStyle>
          <a:p>
            <a:endParaRPr/>
          </a:p>
        </p:txBody>
      </p:sp>
      <p:sp>
        <p:nvSpPr>
          <p:cNvPr id="28" name="Google Shape;28;p7"/>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Fira Sans Extra Condensed"/>
              <a:buNone/>
              <a:defRPr sz="2400" b="1">
                <a:solidFill>
                  <a:schemeClr val="dk1"/>
                </a:solidFill>
              </a:defRPr>
            </a:lvl1pPr>
            <a:lvl2pPr lvl="1"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chemeClr val="dk1"/>
              </a:buClr>
              <a:buSzPts val="2400"/>
              <a:buFont typeface="Fira Sans Extra Condensed"/>
              <a:buNone/>
              <a:defRPr sz="2400" b="1">
                <a:solidFill>
                  <a:schemeClr val="dk1"/>
                </a:solidFill>
                <a:latin typeface="Fira Sans Extra Condensed"/>
                <a:ea typeface="Fira Sans Extra Condensed"/>
                <a:cs typeface="Fira Sans Extra Condensed"/>
                <a:sym typeface="Fira Sans Extra Condensed"/>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1388100" y="1307100"/>
            <a:ext cx="6367800" cy="2529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720000" y="367423"/>
            <a:ext cx="7704000" cy="84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3" name="Google Shape;33;p9"/>
          <p:cNvSpPr txBox="1">
            <a:spLocks noGrp="1"/>
          </p:cNvSpPr>
          <p:nvPr>
            <p:ph type="subTitle" idx="1"/>
          </p:nvPr>
        </p:nvSpPr>
        <p:spPr>
          <a:xfrm>
            <a:off x="2241550" y="1348750"/>
            <a:ext cx="4661100" cy="168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
        <p:cNvGrpSpPr/>
        <p:nvPr/>
      </p:nvGrpSpPr>
      <p:grpSpPr>
        <a:xfrm>
          <a:off x="0" y="0"/>
          <a:ext cx="0" cy="0"/>
          <a:chOff x="0" y="0"/>
          <a:chExt cx="0" cy="0"/>
        </a:xfrm>
      </p:grpSpPr>
      <p:sp>
        <p:nvSpPr>
          <p:cNvPr id="35" name="Google Shape;35;p10"/>
          <p:cNvSpPr txBox="1">
            <a:spLocks noGrp="1"/>
          </p:cNvSpPr>
          <p:nvPr>
            <p:ph type="title"/>
          </p:nvPr>
        </p:nvSpPr>
        <p:spPr>
          <a:xfrm>
            <a:off x="720000" y="2285400"/>
            <a:ext cx="77040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a:lvl2pPr>
            <a:lvl3pPr lvl="2" algn="ctr">
              <a:lnSpc>
                <a:spcPct val="100000"/>
              </a:lnSpc>
              <a:spcBef>
                <a:spcPts val="0"/>
              </a:spcBef>
              <a:spcAft>
                <a:spcPts val="0"/>
              </a:spcAft>
              <a:buSzPts val="2400"/>
              <a:buNone/>
              <a:defRPr/>
            </a:lvl3pPr>
            <a:lvl4pPr lvl="3" algn="ctr">
              <a:lnSpc>
                <a:spcPct val="100000"/>
              </a:lnSpc>
              <a:spcBef>
                <a:spcPts val="0"/>
              </a:spcBef>
              <a:spcAft>
                <a:spcPts val="0"/>
              </a:spcAft>
              <a:buSzPts val="2400"/>
              <a:buNone/>
              <a:defRPr/>
            </a:lvl4pPr>
            <a:lvl5pPr lvl="4" algn="ctr">
              <a:lnSpc>
                <a:spcPct val="100000"/>
              </a:lnSpc>
              <a:spcBef>
                <a:spcPts val="0"/>
              </a:spcBef>
              <a:spcAft>
                <a:spcPts val="0"/>
              </a:spcAft>
              <a:buSzPts val="2400"/>
              <a:buNone/>
              <a:defRPr/>
            </a:lvl5pPr>
            <a:lvl6pPr lvl="5" algn="ctr">
              <a:lnSpc>
                <a:spcPct val="100000"/>
              </a:lnSpc>
              <a:spcBef>
                <a:spcPts val="0"/>
              </a:spcBef>
              <a:spcAft>
                <a:spcPts val="0"/>
              </a:spcAft>
              <a:buSzPts val="2400"/>
              <a:buNone/>
              <a:defRPr/>
            </a:lvl6pPr>
            <a:lvl7pPr lvl="6" algn="ctr">
              <a:lnSpc>
                <a:spcPct val="100000"/>
              </a:lnSpc>
              <a:spcBef>
                <a:spcPts val="0"/>
              </a:spcBef>
              <a:spcAft>
                <a:spcPts val="0"/>
              </a:spcAft>
              <a:buSzPts val="2400"/>
              <a:buNone/>
              <a:defRPr/>
            </a:lvl7pPr>
            <a:lvl8pPr lvl="7" algn="ctr">
              <a:lnSpc>
                <a:spcPct val="100000"/>
              </a:lnSpc>
              <a:spcBef>
                <a:spcPts val="0"/>
              </a:spcBef>
              <a:spcAft>
                <a:spcPts val="0"/>
              </a:spcAft>
              <a:buSzPts val="2400"/>
              <a:buNone/>
              <a:defRPr/>
            </a:lvl8pPr>
            <a:lvl9pPr lvl="8" algn="ctr">
              <a:lnSpc>
                <a:spcPct val="100000"/>
              </a:lnSpc>
              <a:spcBef>
                <a:spcPts val="0"/>
              </a:spcBef>
              <a:spcAft>
                <a:spcPts val="0"/>
              </a:spcAft>
              <a:buSzPts val="24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6"/>
        <p:cNvGrpSpPr/>
        <p:nvPr/>
      </p:nvGrpSpPr>
      <p:grpSpPr>
        <a:xfrm>
          <a:off x="0" y="0"/>
          <a:ext cx="0" cy="0"/>
          <a:chOff x="0" y="0"/>
          <a:chExt cx="0" cy="0"/>
        </a:xfrm>
      </p:grpSpPr>
      <p:sp>
        <p:nvSpPr>
          <p:cNvPr id="37" name="Google Shape;37;p11"/>
          <p:cNvSpPr txBox="1">
            <a:spLocks noGrp="1"/>
          </p:cNvSpPr>
          <p:nvPr>
            <p:ph type="title" hasCustomPrompt="1"/>
          </p:nvPr>
        </p:nvSpPr>
        <p:spPr>
          <a:xfrm>
            <a:off x="1284000" y="1558475"/>
            <a:ext cx="6576000" cy="1511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8" name="Google Shape;38;p11"/>
          <p:cNvSpPr txBox="1">
            <a:spLocks noGrp="1"/>
          </p:cNvSpPr>
          <p:nvPr>
            <p:ph type="subTitle" idx="1"/>
          </p:nvPr>
        </p:nvSpPr>
        <p:spPr>
          <a:xfrm>
            <a:off x="1284000" y="3069625"/>
            <a:ext cx="6576000" cy="713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52550" y="1096600"/>
            <a:ext cx="8238900" cy="35118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1pPr>
            <a:lvl2pPr marL="914400" marR="0" lvl="1"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2pPr>
            <a:lvl3pPr marL="1371600" marR="0" lvl="2"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3pPr>
            <a:lvl4pPr marL="1828800" marR="0" lvl="3"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4pPr>
            <a:lvl5pPr marL="2286000" marR="0" lvl="4"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5pPr>
            <a:lvl6pPr marL="2743200" marR="0" lvl="5"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6pPr>
            <a:lvl7pPr marL="3200400" marR="0" lvl="6"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7pPr>
            <a:lvl8pPr marL="3657600" marR="0" lvl="7"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8pPr>
            <a:lvl9pPr marL="4114800" marR="0" lvl="8"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ernandes.kei@northeastern.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jain.shreyans@northeastern.edu"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mailto:fernandes.kei@northeastern.edu"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mailto:jain.shreyans@northeastern.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3"/>
          <p:cNvSpPr txBox="1">
            <a:spLocks noGrp="1"/>
          </p:cNvSpPr>
          <p:nvPr>
            <p:ph type="ctrTitle"/>
          </p:nvPr>
        </p:nvSpPr>
        <p:spPr>
          <a:xfrm>
            <a:off x="715100" y="763357"/>
            <a:ext cx="6887483" cy="2391309"/>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5200"/>
              <a:buNone/>
            </a:pPr>
            <a:r>
              <a:rPr lang="en-US" dirty="0"/>
              <a:t>Predicting Calorie Expenditure During Exercise</a:t>
            </a:r>
            <a:endParaRPr dirty="0"/>
          </a:p>
        </p:txBody>
      </p:sp>
      <p:sp>
        <p:nvSpPr>
          <p:cNvPr id="45" name="Google Shape;45;p13"/>
          <p:cNvSpPr txBox="1">
            <a:spLocks noGrp="1"/>
          </p:cNvSpPr>
          <p:nvPr>
            <p:ph type="subTitle" idx="1"/>
          </p:nvPr>
        </p:nvSpPr>
        <p:spPr>
          <a:xfrm>
            <a:off x="715099" y="3111064"/>
            <a:ext cx="7403465" cy="38460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US" i="1" dirty="0"/>
              <a:t>Using Regression-Based Machine Learning Approaches</a:t>
            </a:r>
            <a:endParaRPr i="1" dirty="0"/>
          </a:p>
        </p:txBody>
      </p:sp>
      <p:sp>
        <p:nvSpPr>
          <p:cNvPr id="46" name="Google Shape;46;p13"/>
          <p:cNvSpPr txBox="1"/>
          <p:nvPr/>
        </p:nvSpPr>
        <p:spPr>
          <a:xfrm>
            <a:off x="715098" y="3836670"/>
            <a:ext cx="6887484" cy="657224"/>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Montserrat"/>
              <a:buNone/>
            </a:pPr>
            <a:r>
              <a:rPr lang="en-US" sz="1050" b="1" i="1" u="none" strike="noStrike" cap="none" dirty="0">
                <a:solidFill>
                  <a:schemeClr val="dk1"/>
                </a:solidFill>
                <a:latin typeface="Montserrat"/>
                <a:ea typeface="Montserrat"/>
                <a:cs typeface="Montserrat"/>
                <a:sym typeface="Montserrat"/>
              </a:rPr>
              <a:t>Keith Fernandes</a:t>
            </a:r>
            <a:endParaRPr dirty="0"/>
          </a:p>
          <a:p>
            <a:pPr marL="0" marR="0" lvl="0" indent="0" algn="l" rtl="0">
              <a:lnSpc>
                <a:spcPct val="100000"/>
              </a:lnSpc>
              <a:spcBef>
                <a:spcPts val="0"/>
              </a:spcBef>
              <a:spcAft>
                <a:spcPts val="0"/>
              </a:spcAft>
              <a:buClr>
                <a:schemeClr val="dk1"/>
              </a:buClr>
              <a:buSzPts val="1200"/>
              <a:buFont typeface="Montserrat"/>
              <a:buNone/>
            </a:pPr>
            <a:r>
              <a:rPr lang="en-US" sz="1050" b="0" i="1" u="sng" strike="noStrike" cap="none" dirty="0">
                <a:solidFill>
                  <a:schemeClr val="hlink"/>
                </a:solidFill>
                <a:latin typeface="Montserrat"/>
                <a:ea typeface="Montserrat"/>
                <a:cs typeface="Montserrat"/>
                <a:sym typeface="Montserrat"/>
                <a:hlinkClick r:id="rId3"/>
              </a:rPr>
              <a:t>fernandes.kei@northeastern.edu</a:t>
            </a:r>
            <a:endParaRPr lang="en-US" sz="1050" i="1" u="sng" dirty="0">
              <a:solidFill>
                <a:schemeClr val="hlink"/>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200"/>
              <a:buFont typeface="Montserrat"/>
              <a:buNone/>
            </a:pPr>
            <a:r>
              <a:rPr lang="en-US" sz="400" b="0" i="1" u="none" strike="noStrike" cap="none" dirty="0">
                <a:solidFill>
                  <a:schemeClr val="dk1"/>
                </a:solidFill>
                <a:latin typeface="Montserrat"/>
                <a:ea typeface="Montserrat"/>
                <a:cs typeface="Montserrat"/>
                <a:sym typeface="Montserrat"/>
              </a:rPr>
              <a:t> </a:t>
            </a:r>
            <a:endParaRPr sz="400" dirty="0"/>
          </a:p>
          <a:p>
            <a:pPr marL="0" marR="0" lvl="0" indent="0" algn="l" rtl="0">
              <a:lnSpc>
                <a:spcPct val="100000"/>
              </a:lnSpc>
              <a:spcBef>
                <a:spcPts val="0"/>
              </a:spcBef>
              <a:spcAft>
                <a:spcPts val="0"/>
              </a:spcAft>
              <a:buClr>
                <a:schemeClr val="dk1"/>
              </a:buClr>
              <a:buSzPts val="1200"/>
              <a:buFont typeface="Montserrat"/>
              <a:buNone/>
            </a:pPr>
            <a:r>
              <a:rPr lang="en-US" sz="1050" b="1" i="1" u="none" strike="noStrike" cap="none" dirty="0">
                <a:solidFill>
                  <a:schemeClr val="dk1"/>
                </a:solidFill>
                <a:latin typeface="Montserrat"/>
                <a:ea typeface="Montserrat"/>
                <a:cs typeface="Montserrat"/>
                <a:sym typeface="Montserrat"/>
              </a:rPr>
              <a:t>Shreyans Jain</a:t>
            </a:r>
            <a:endParaRPr dirty="0"/>
          </a:p>
          <a:p>
            <a:pPr marL="0" marR="0" lvl="0" indent="0" algn="l" rtl="0">
              <a:lnSpc>
                <a:spcPct val="100000"/>
              </a:lnSpc>
              <a:spcBef>
                <a:spcPts val="0"/>
              </a:spcBef>
              <a:spcAft>
                <a:spcPts val="0"/>
              </a:spcAft>
              <a:buClr>
                <a:schemeClr val="dk1"/>
              </a:buClr>
              <a:buSzPts val="1200"/>
              <a:buFont typeface="Montserrat"/>
              <a:buNone/>
            </a:pPr>
            <a:r>
              <a:rPr lang="en-US" sz="1050" b="0" i="1" u="sng" strike="noStrike" cap="none" dirty="0">
                <a:solidFill>
                  <a:schemeClr val="hlink"/>
                </a:solidFill>
                <a:latin typeface="Montserrat"/>
                <a:ea typeface="Montserrat"/>
                <a:cs typeface="Montserrat"/>
                <a:sym typeface="Montserrat"/>
                <a:hlinkClick r:id="rId4"/>
              </a:rPr>
              <a:t>jain.shreyans@northeastern.edu</a:t>
            </a:r>
            <a:r>
              <a:rPr lang="en-US" sz="1050" b="0" i="1" u="none" strike="noStrike" cap="none" dirty="0">
                <a:solidFill>
                  <a:srgbClr val="0070C0"/>
                </a:solidFill>
                <a:latin typeface="Montserrat"/>
                <a:ea typeface="Montserrat"/>
                <a:cs typeface="Montserrat"/>
                <a:sym typeface="Montserrat"/>
              </a:rPr>
              <a:t> </a:t>
            </a:r>
            <a:endParaRPr dirty="0"/>
          </a:p>
        </p:txBody>
      </p:sp>
      <p:sp>
        <p:nvSpPr>
          <p:cNvPr id="47" name="Google Shape;47;p13"/>
          <p:cNvSpPr txBox="1"/>
          <p:nvPr/>
        </p:nvSpPr>
        <p:spPr>
          <a:xfrm>
            <a:off x="2286000" y="0"/>
            <a:ext cx="4572000"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endParaRPr sz="1100" b="0" i="1" u="none" strike="noStrike" cap="none" dirty="0">
              <a:solidFill>
                <a:srgbClr val="000000"/>
              </a:solidFill>
              <a:latin typeface="Montserrat"/>
              <a:ea typeface="Montserrat"/>
              <a:cs typeface="Montserrat"/>
              <a:sym typeface="Montserrat"/>
            </a:endParaRPr>
          </a:p>
          <a:p>
            <a:pPr marL="0" marR="0" lvl="0" indent="0" algn="ctr" rtl="0">
              <a:lnSpc>
                <a:spcPct val="100000"/>
              </a:lnSpc>
              <a:spcBef>
                <a:spcPts val="0"/>
              </a:spcBef>
              <a:spcAft>
                <a:spcPts val="0"/>
              </a:spcAft>
              <a:buNone/>
            </a:pPr>
            <a:r>
              <a:rPr lang="en-US" sz="1100" b="0" i="1" u="none" strike="noStrike" cap="none" dirty="0">
                <a:solidFill>
                  <a:srgbClr val="000000"/>
                </a:solidFill>
                <a:latin typeface="Montserrat"/>
                <a:ea typeface="Montserrat"/>
                <a:cs typeface="Montserrat"/>
                <a:sym typeface="Montserrat"/>
              </a:rPr>
              <a:t>CS6410 - Machine Learning</a:t>
            </a:r>
            <a:endParaRPr sz="1100" b="0" i="1" u="none" strike="noStrike" cap="none" dirty="0">
              <a:solidFill>
                <a:srgbClr val="000000"/>
              </a:solidFill>
              <a:latin typeface="Montserrat"/>
              <a:ea typeface="Montserrat"/>
              <a:cs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4"/>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sz="2800"/>
              <a:t>Problem &amp; Why It Matters</a:t>
            </a:r>
            <a:endParaRPr sz="2800"/>
          </a:p>
        </p:txBody>
      </p:sp>
      <p:sp>
        <p:nvSpPr>
          <p:cNvPr id="53" name="Google Shape;53;p14"/>
          <p:cNvSpPr txBox="1"/>
          <p:nvPr/>
        </p:nvSpPr>
        <p:spPr>
          <a:xfrm>
            <a:off x="457188" y="1241202"/>
            <a:ext cx="8238899"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What is the Problem?</a:t>
            </a:r>
            <a:endParaRPr/>
          </a:p>
        </p:txBody>
      </p:sp>
      <p:sp>
        <p:nvSpPr>
          <p:cNvPr id="54" name="Google Shape;54;p14"/>
          <p:cNvSpPr txBox="1"/>
          <p:nvPr/>
        </p:nvSpPr>
        <p:spPr>
          <a:xfrm>
            <a:off x="457199" y="1569490"/>
            <a:ext cx="7080072" cy="731400"/>
          </a:xfrm>
          <a:prstGeom prst="rect">
            <a:avLst/>
          </a:prstGeom>
          <a:noFill/>
          <a:ln>
            <a:noFill/>
          </a:ln>
        </p:spPr>
        <p:txBody>
          <a:bodyPr spcFirstLastPara="1" wrap="square" lIns="91425" tIns="91425" rIns="91425" bIns="91425" anchor="t" anchorCtr="0">
            <a:noAutofit/>
          </a:bodyPr>
          <a:lstStyle/>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Predicting how many calories a person burns during exercise, given their physiological profile and activity data</a:t>
            </a:r>
            <a:endParaRPr/>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This is a </a:t>
            </a:r>
            <a:r>
              <a:rPr lang="en-US" sz="1200" b="1" i="0" u="none" strike="noStrike" cap="none">
                <a:solidFill>
                  <a:schemeClr val="dk1"/>
                </a:solidFill>
                <a:latin typeface="Montserrat Medium"/>
                <a:ea typeface="Montserrat Medium"/>
                <a:cs typeface="Montserrat Medium"/>
                <a:sym typeface="Montserrat Medium"/>
              </a:rPr>
              <a:t>regression</a:t>
            </a:r>
            <a:r>
              <a:rPr lang="en-US" sz="1200" b="0" i="0" u="none" strike="noStrike" cap="none">
                <a:solidFill>
                  <a:schemeClr val="dk1"/>
                </a:solidFill>
                <a:latin typeface="Montserrat Medium"/>
                <a:ea typeface="Montserrat Medium"/>
                <a:cs typeface="Montserrat Medium"/>
                <a:sym typeface="Montserrat Medium"/>
              </a:rPr>
              <a:t> problem, the target (Calories) is a continuous value</a:t>
            </a:r>
            <a:endParaRPr sz="1200" b="0" i="0" u="none" strike="noStrike" cap="none">
              <a:solidFill>
                <a:schemeClr val="dk1"/>
              </a:solidFill>
              <a:latin typeface="Montserrat Medium"/>
              <a:ea typeface="Montserrat Medium"/>
              <a:cs typeface="Montserrat Medium"/>
              <a:sym typeface="Montserrat Medium"/>
            </a:endParaRPr>
          </a:p>
        </p:txBody>
      </p:sp>
      <p:sp>
        <p:nvSpPr>
          <p:cNvPr id="55" name="Google Shape;55;p14"/>
          <p:cNvSpPr txBox="1"/>
          <p:nvPr/>
        </p:nvSpPr>
        <p:spPr>
          <a:xfrm>
            <a:off x="452551" y="2539161"/>
            <a:ext cx="8238899"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Why is it Important?</a:t>
            </a:r>
            <a:endParaRPr/>
          </a:p>
        </p:txBody>
      </p:sp>
      <p:sp>
        <p:nvSpPr>
          <p:cNvPr id="56" name="Google Shape;56;p14"/>
          <p:cNvSpPr txBox="1"/>
          <p:nvPr/>
        </p:nvSpPr>
        <p:spPr>
          <a:xfrm>
            <a:off x="452550" y="2867448"/>
            <a:ext cx="7084720" cy="1351383"/>
          </a:xfrm>
          <a:prstGeom prst="rect">
            <a:avLst/>
          </a:prstGeom>
          <a:noFill/>
          <a:ln>
            <a:noFill/>
          </a:ln>
        </p:spPr>
        <p:txBody>
          <a:bodyPr spcFirstLastPara="1" wrap="square" lIns="91425" tIns="91425" rIns="91425" bIns="91425" anchor="t" anchorCtr="0">
            <a:noAutofit/>
          </a:bodyPr>
          <a:lstStyle/>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Accurate calorie estimation powers personalized fitness apps, wearable devices, and clinical nutrition planning</a:t>
            </a:r>
            <a:endParaRPr/>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Traditional methods (like MET-based formulas) are generic, they don't account for individual differences in age, weight, heart rate response, etc.</a:t>
            </a:r>
            <a:endParaRPr/>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With 750K+ data points available, ML can learn personalized patterns that static formulas miss</a:t>
            </a:r>
            <a:endParaRPr sz="1200" b="0" i="0" u="none" strike="noStrike" cap="none">
              <a:solidFill>
                <a:schemeClr val="dk1"/>
              </a:solidFill>
              <a:latin typeface="Montserrat Medium"/>
              <a:ea typeface="Montserrat Medium"/>
              <a:cs typeface="Montserrat Medium"/>
              <a:sym typeface="Montserrat Medium"/>
            </a:endParaRPr>
          </a:p>
        </p:txBody>
      </p:sp>
      <p:sp>
        <p:nvSpPr>
          <p:cNvPr id="3" name="Google Shape;47;p13">
            <a:extLst>
              <a:ext uri="{FF2B5EF4-FFF2-40B4-BE49-F238E27FC236}">
                <a16:creationId xmlns:a16="http://schemas.microsoft.com/office/drawing/2014/main" id="{6C9F7C98-C954-7CFD-1F31-7F55940A36D9}"/>
              </a:ext>
            </a:extLst>
          </p:cNvPr>
          <p:cNvSpPr txBox="1"/>
          <p:nvPr/>
        </p:nvSpPr>
        <p:spPr>
          <a:xfrm>
            <a:off x="8686800" y="4686300"/>
            <a:ext cx="457200" cy="4572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000" b="0" u="none" strike="noStrike" cap="none" dirty="0">
                <a:solidFill>
                  <a:srgbClr val="000000"/>
                </a:solidFill>
                <a:latin typeface="Montserrat SemiBold" pitchFamily="2" charset="0"/>
                <a:ea typeface="Montserrat"/>
                <a:cs typeface="Montserrat"/>
                <a:sym typeface="Montserrat"/>
              </a:rPr>
              <a:t>1</a:t>
            </a:r>
            <a:endParaRPr sz="1000" b="0" u="none" strike="noStrike" cap="none" dirty="0">
              <a:solidFill>
                <a:srgbClr val="000000"/>
              </a:solidFill>
              <a:latin typeface="Montserrat SemiBold" pitchFamily="2" charset="0"/>
              <a:ea typeface="Montserrat"/>
              <a:cs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52550" y="154516"/>
            <a:ext cx="8238900" cy="5641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a:t>Key Challenges We Need To Address:</a:t>
            </a:r>
            <a:endParaRPr/>
          </a:p>
        </p:txBody>
      </p:sp>
      <p:cxnSp>
        <p:nvCxnSpPr>
          <p:cNvPr id="62" name="Google Shape;62;p15"/>
          <p:cNvCxnSpPr>
            <a:stCxn id="63" idx="4"/>
            <a:endCxn id="64" idx="0"/>
          </p:cNvCxnSpPr>
          <p:nvPr/>
        </p:nvCxnSpPr>
        <p:spPr>
          <a:xfrm>
            <a:off x="1359540" y="1462965"/>
            <a:ext cx="0" cy="403200"/>
          </a:xfrm>
          <a:prstGeom prst="straightConnector1">
            <a:avLst/>
          </a:prstGeom>
          <a:noFill/>
          <a:ln w="19050" cap="flat" cmpd="sng">
            <a:solidFill>
              <a:schemeClr val="dk1"/>
            </a:solidFill>
            <a:prstDash val="solid"/>
            <a:round/>
            <a:headEnd type="none" w="sm" len="sm"/>
            <a:tailEnd type="none" w="sm" len="sm"/>
          </a:ln>
        </p:spPr>
      </p:cxnSp>
      <p:cxnSp>
        <p:nvCxnSpPr>
          <p:cNvPr id="65" name="Google Shape;65;p15"/>
          <p:cNvCxnSpPr>
            <a:stCxn id="64" idx="4"/>
            <a:endCxn id="66" idx="0"/>
          </p:cNvCxnSpPr>
          <p:nvPr/>
        </p:nvCxnSpPr>
        <p:spPr>
          <a:xfrm>
            <a:off x="1359540" y="2514829"/>
            <a:ext cx="0" cy="403200"/>
          </a:xfrm>
          <a:prstGeom prst="straightConnector1">
            <a:avLst/>
          </a:prstGeom>
          <a:noFill/>
          <a:ln w="19050" cap="flat" cmpd="sng">
            <a:solidFill>
              <a:schemeClr val="dk1"/>
            </a:solidFill>
            <a:prstDash val="solid"/>
            <a:round/>
            <a:headEnd type="none" w="sm" len="sm"/>
            <a:tailEnd type="none" w="sm" len="sm"/>
          </a:ln>
        </p:spPr>
      </p:cxnSp>
      <p:cxnSp>
        <p:nvCxnSpPr>
          <p:cNvPr id="67" name="Google Shape;67;p15"/>
          <p:cNvCxnSpPr>
            <a:cxnSpLocks/>
            <a:stCxn id="66" idx="4"/>
            <a:endCxn id="77" idx="0"/>
          </p:cNvCxnSpPr>
          <p:nvPr/>
        </p:nvCxnSpPr>
        <p:spPr>
          <a:xfrm>
            <a:off x="1359528" y="3566692"/>
            <a:ext cx="0" cy="381300"/>
          </a:xfrm>
          <a:prstGeom prst="straightConnector1">
            <a:avLst/>
          </a:prstGeom>
          <a:noFill/>
          <a:ln w="19050" cap="flat" cmpd="sng">
            <a:solidFill>
              <a:schemeClr val="dk1"/>
            </a:solidFill>
            <a:prstDash val="solid"/>
            <a:round/>
            <a:headEnd type="none" w="sm" len="sm"/>
            <a:tailEnd type="none" w="sm" len="sm"/>
          </a:ln>
        </p:spPr>
      </p:cxnSp>
      <p:sp>
        <p:nvSpPr>
          <p:cNvPr id="66" name="Google Shape;66;p15"/>
          <p:cNvSpPr/>
          <p:nvPr/>
        </p:nvSpPr>
        <p:spPr>
          <a:xfrm>
            <a:off x="1035228" y="2918092"/>
            <a:ext cx="648600" cy="648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03</a:t>
            </a:r>
            <a:endParaRPr sz="1600" b="0" i="0" u="none" strike="noStrike" cap="none">
              <a:solidFill>
                <a:schemeClr val="dk1"/>
              </a:solidFill>
              <a:latin typeface="Montserrat SemiBold"/>
              <a:ea typeface="Montserrat SemiBold"/>
              <a:cs typeface="Montserrat SemiBold"/>
              <a:sym typeface="Montserrat SemiBold"/>
            </a:endParaRPr>
          </a:p>
        </p:txBody>
      </p:sp>
      <p:sp>
        <p:nvSpPr>
          <p:cNvPr id="68" name="Google Shape;68;p15"/>
          <p:cNvSpPr txBox="1"/>
          <p:nvPr/>
        </p:nvSpPr>
        <p:spPr>
          <a:xfrm>
            <a:off x="2008128" y="3003918"/>
            <a:ext cx="5127743"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Scale of Prediction Range</a:t>
            </a:r>
            <a:endParaRPr sz="1600" b="0" i="0" u="none" strike="noStrike" cap="none">
              <a:solidFill>
                <a:schemeClr val="dk1"/>
              </a:solidFill>
              <a:latin typeface="Montserrat SemiBold"/>
              <a:ea typeface="Montserrat SemiBold"/>
              <a:cs typeface="Montserrat SemiBold"/>
              <a:sym typeface="Montserrat SemiBold"/>
            </a:endParaRPr>
          </a:p>
        </p:txBody>
      </p:sp>
      <p:sp>
        <p:nvSpPr>
          <p:cNvPr id="69" name="Google Shape;69;p15"/>
          <p:cNvSpPr txBox="1"/>
          <p:nvPr/>
        </p:nvSpPr>
        <p:spPr>
          <a:xfrm>
            <a:off x="2008128" y="3332216"/>
            <a:ext cx="5127750" cy="5487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100"/>
              <a:buFont typeface="Arial"/>
              <a:buNone/>
            </a:pPr>
            <a:r>
              <a:rPr lang="en-US" sz="1100" b="0" i="1" u="none" strike="noStrike" cap="none">
                <a:solidFill>
                  <a:schemeClr val="dk1"/>
                </a:solidFill>
                <a:latin typeface="Montserrat Medium"/>
                <a:ea typeface="Montserrat Medium"/>
                <a:cs typeface="Montserrat Medium"/>
                <a:sym typeface="Montserrat Medium"/>
              </a:rPr>
              <a:t>Calories in the dataset range from very low to very high values. </a:t>
            </a:r>
            <a:endParaRPr/>
          </a:p>
          <a:p>
            <a:pPr marL="0" marR="0" lvl="0" indent="0" algn="just" rtl="0">
              <a:lnSpc>
                <a:spcPct val="100000"/>
              </a:lnSpc>
              <a:spcBef>
                <a:spcPts val="0"/>
              </a:spcBef>
              <a:spcAft>
                <a:spcPts val="0"/>
              </a:spcAft>
              <a:buClr>
                <a:srgbClr val="000000"/>
              </a:buClr>
              <a:buSzPts val="1100"/>
              <a:buFont typeface="Arial"/>
              <a:buNone/>
            </a:pPr>
            <a:r>
              <a:rPr lang="en-US" sz="1100" b="0" i="1" u="none" strike="noStrike" cap="none">
                <a:solidFill>
                  <a:schemeClr val="dk1"/>
                </a:solidFill>
                <a:latin typeface="Montserrat Medium"/>
                <a:ea typeface="Montserrat Medium"/>
                <a:cs typeface="Montserrat Medium"/>
                <a:sym typeface="Montserrat Medium"/>
              </a:rPr>
              <a:t>The model must be proportionally accurate across this entire range.</a:t>
            </a:r>
            <a:endParaRPr sz="1100" b="0" i="1" u="none" strike="noStrike" cap="none">
              <a:solidFill>
                <a:schemeClr val="dk1"/>
              </a:solidFill>
              <a:latin typeface="Montserrat Medium"/>
              <a:ea typeface="Montserrat Medium"/>
              <a:cs typeface="Montserrat Medium"/>
              <a:sym typeface="Montserrat Medium"/>
            </a:endParaRPr>
          </a:p>
        </p:txBody>
      </p:sp>
      <p:cxnSp>
        <p:nvCxnSpPr>
          <p:cNvPr id="70" name="Google Shape;70;p15"/>
          <p:cNvCxnSpPr>
            <a:endCxn id="66" idx="6"/>
          </p:cNvCxnSpPr>
          <p:nvPr/>
        </p:nvCxnSpPr>
        <p:spPr>
          <a:xfrm rot="10800000">
            <a:off x="1683828" y="3242392"/>
            <a:ext cx="215400" cy="0"/>
          </a:xfrm>
          <a:prstGeom prst="straightConnector1">
            <a:avLst/>
          </a:prstGeom>
          <a:noFill/>
          <a:ln w="19050" cap="flat" cmpd="sng">
            <a:solidFill>
              <a:schemeClr val="dk1"/>
            </a:solidFill>
            <a:prstDash val="solid"/>
            <a:round/>
            <a:headEnd type="none" w="sm" len="sm"/>
            <a:tailEnd type="none" w="sm" len="sm"/>
          </a:ln>
        </p:spPr>
      </p:cxnSp>
      <p:sp>
        <p:nvSpPr>
          <p:cNvPr id="63" name="Google Shape;63;p15"/>
          <p:cNvSpPr/>
          <p:nvPr/>
        </p:nvSpPr>
        <p:spPr>
          <a:xfrm>
            <a:off x="1035240" y="814365"/>
            <a:ext cx="648600" cy="648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01</a:t>
            </a:r>
            <a:endParaRPr sz="1600" b="0" i="0" u="none" strike="noStrike" cap="none">
              <a:solidFill>
                <a:schemeClr val="dk1"/>
              </a:solidFill>
              <a:latin typeface="Montserrat SemiBold"/>
              <a:ea typeface="Montserrat SemiBold"/>
              <a:cs typeface="Montserrat SemiBold"/>
              <a:sym typeface="Montserrat SemiBold"/>
            </a:endParaRPr>
          </a:p>
        </p:txBody>
      </p:sp>
      <p:sp>
        <p:nvSpPr>
          <p:cNvPr id="71" name="Google Shape;71;p15"/>
          <p:cNvSpPr txBox="1"/>
          <p:nvPr/>
        </p:nvSpPr>
        <p:spPr>
          <a:xfrm>
            <a:off x="2008128" y="900191"/>
            <a:ext cx="5127744"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Nonlinear Relationships</a:t>
            </a:r>
            <a:endParaRPr sz="1600" b="0" i="0" u="none" strike="noStrike" cap="none">
              <a:solidFill>
                <a:schemeClr val="dk1"/>
              </a:solidFill>
              <a:latin typeface="Montserrat SemiBold"/>
              <a:ea typeface="Montserrat SemiBold"/>
              <a:cs typeface="Montserrat SemiBold"/>
              <a:sym typeface="Montserrat SemiBold"/>
            </a:endParaRPr>
          </a:p>
        </p:txBody>
      </p:sp>
      <p:sp>
        <p:nvSpPr>
          <p:cNvPr id="72" name="Google Shape;72;p15"/>
          <p:cNvSpPr txBox="1"/>
          <p:nvPr/>
        </p:nvSpPr>
        <p:spPr>
          <a:xfrm>
            <a:off x="2008127" y="1228489"/>
            <a:ext cx="5127744" cy="5487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100"/>
              <a:buFont typeface="Arial"/>
              <a:buNone/>
            </a:pPr>
            <a:r>
              <a:rPr lang="en-US" sz="1100" b="0" i="1" u="none" strike="noStrike" cap="none">
                <a:solidFill>
                  <a:schemeClr val="dk1"/>
                </a:solidFill>
                <a:latin typeface="Montserrat Medium"/>
                <a:ea typeface="Montserrat Medium"/>
                <a:cs typeface="Montserrat Medium"/>
                <a:sym typeface="Montserrat Medium"/>
              </a:rPr>
              <a:t>Calorie burn doesn't scale linearly with any single feature. </a:t>
            </a:r>
            <a:endParaRPr/>
          </a:p>
          <a:p>
            <a:pPr marL="0" marR="0" lvl="0" indent="0" algn="just" rtl="0">
              <a:lnSpc>
                <a:spcPct val="100000"/>
              </a:lnSpc>
              <a:spcBef>
                <a:spcPts val="0"/>
              </a:spcBef>
              <a:spcAft>
                <a:spcPts val="0"/>
              </a:spcAft>
              <a:buClr>
                <a:srgbClr val="000000"/>
              </a:buClr>
              <a:buSzPts val="1100"/>
              <a:buFont typeface="Arial"/>
              <a:buNone/>
            </a:pPr>
            <a:r>
              <a:rPr lang="en-US" sz="1100" b="0" i="1" u="none" strike="noStrike" cap="none">
                <a:solidFill>
                  <a:schemeClr val="dk1"/>
                </a:solidFill>
                <a:latin typeface="Montserrat Medium"/>
                <a:ea typeface="Montserrat Medium"/>
                <a:cs typeface="Montserrat Medium"/>
                <a:sym typeface="Montserrat Medium"/>
              </a:rPr>
              <a:t>A 10-minute increase in duration has a very different calorie impact at low vs. high heart rates.</a:t>
            </a:r>
            <a:endParaRPr sz="1100" b="0" i="1" u="none" strike="noStrike" cap="none">
              <a:solidFill>
                <a:schemeClr val="dk1"/>
              </a:solidFill>
              <a:latin typeface="Montserrat Medium"/>
              <a:ea typeface="Montserrat Medium"/>
              <a:cs typeface="Montserrat Medium"/>
              <a:sym typeface="Montserrat Medium"/>
            </a:endParaRPr>
          </a:p>
        </p:txBody>
      </p:sp>
      <p:cxnSp>
        <p:nvCxnSpPr>
          <p:cNvPr id="73" name="Google Shape;73;p15"/>
          <p:cNvCxnSpPr>
            <a:endCxn id="63" idx="6"/>
          </p:cNvCxnSpPr>
          <p:nvPr/>
        </p:nvCxnSpPr>
        <p:spPr>
          <a:xfrm rot="10800000">
            <a:off x="1683840" y="1138665"/>
            <a:ext cx="215400" cy="0"/>
          </a:xfrm>
          <a:prstGeom prst="straightConnector1">
            <a:avLst/>
          </a:prstGeom>
          <a:noFill/>
          <a:ln w="19050" cap="flat" cmpd="sng">
            <a:solidFill>
              <a:schemeClr val="dk1"/>
            </a:solidFill>
            <a:prstDash val="solid"/>
            <a:round/>
            <a:headEnd type="none" w="sm" len="sm"/>
            <a:tailEnd type="none" w="sm" len="sm"/>
          </a:ln>
        </p:spPr>
      </p:cxnSp>
      <p:sp>
        <p:nvSpPr>
          <p:cNvPr id="64" name="Google Shape;64;p15"/>
          <p:cNvSpPr/>
          <p:nvPr/>
        </p:nvSpPr>
        <p:spPr>
          <a:xfrm>
            <a:off x="1035240" y="1866229"/>
            <a:ext cx="648600" cy="648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02</a:t>
            </a:r>
            <a:endParaRPr sz="1600" b="0" i="0" u="none" strike="noStrike" cap="none">
              <a:solidFill>
                <a:schemeClr val="dk1"/>
              </a:solidFill>
              <a:latin typeface="Montserrat SemiBold"/>
              <a:ea typeface="Montserrat SemiBold"/>
              <a:cs typeface="Montserrat SemiBold"/>
              <a:sym typeface="Montserrat SemiBold"/>
            </a:endParaRPr>
          </a:p>
        </p:txBody>
      </p:sp>
      <p:sp>
        <p:nvSpPr>
          <p:cNvPr id="74" name="Google Shape;74;p15"/>
          <p:cNvSpPr txBox="1"/>
          <p:nvPr/>
        </p:nvSpPr>
        <p:spPr>
          <a:xfrm>
            <a:off x="2008128" y="1952050"/>
            <a:ext cx="5127744"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Feature Interactions</a:t>
            </a:r>
            <a:endParaRPr sz="1600" b="0" i="0" u="none" strike="noStrike" cap="none">
              <a:solidFill>
                <a:schemeClr val="dk1"/>
              </a:solidFill>
              <a:latin typeface="Montserrat SemiBold"/>
              <a:ea typeface="Montserrat SemiBold"/>
              <a:cs typeface="Montserrat SemiBold"/>
              <a:sym typeface="Montserrat SemiBold"/>
            </a:endParaRPr>
          </a:p>
        </p:txBody>
      </p:sp>
      <p:sp>
        <p:nvSpPr>
          <p:cNvPr id="75" name="Google Shape;75;p15"/>
          <p:cNvSpPr txBox="1"/>
          <p:nvPr/>
        </p:nvSpPr>
        <p:spPr>
          <a:xfrm>
            <a:off x="2008126" y="2280353"/>
            <a:ext cx="5127747" cy="5487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100"/>
              <a:buFont typeface="Arial"/>
              <a:buNone/>
            </a:pPr>
            <a:r>
              <a:rPr lang="en-US" sz="1100" b="0" i="1" u="none" strike="noStrike" cap="none">
                <a:solidFill>
                  <a:schemeClr val="dk1"/>
                </a:solidFill>
                <a:latin typeface="Montserrat Medium"/>
                <a:ea typeface="Montserrat Medium"/>
                <a:cs typeface="Montserrat Medium"/>
                <a:sym typeface="Montserrat Medium"/>
              </a:rPr>
              <a:t>Features like duration, heart rate, weight, and body temperature interact in complex ways that simple models may miss.</a:t>
            </a:r>
            <a:endParaRPr sz="1100" b="0" i="1" u="none" strike="noStrike" cap="none">
              <a:solidFill>
                <a:schemeClr val="dk1"/>
              </a:solidFill>
              <a:latin typeface="Montserrat Medium"/>
              <a:ea typeface="Montserrat Medium"/>
              <a:cs typeface="Montserrat Medium"/>
              <a:sym typeface="Montserrat Medium"/>
            </a:endParaRPr>
          </a:p>
        </p:txBody>
      </p:sp>
      <p:cxnSp>
        <p:nvCxnSpPr>
          <p:cNvPr id="76" name="Google Shape;76;p15"/>
          <p:cNvCxnSpPr>
            <a:endCxn id="64" idx="6"/>
          </p:cNvCxnSpPr>
          <p:nvPr/>
        </p:nvCxnSpPr>
        <p:spPr>
          <a:xfrm rot="10800000">
            <a:off x="1683840" y="2190529"/>
            <a:ext cx="215400" cy="0"/>
          </a:xfrm>
          <a:prstGeom prst="straightConnector1">
            <a:avLst/>
          </a:prstGeom>
          <a:noFill/>
          <a:ln w="19050" cap="flat" cmpd="sng">
            <a:solidFill>
              <a:schemeClr val="dk1"/>
            </a:solidFill>
            <a:prstDash val="solid"/>
            <a:round/>
            <a:headEnd type="none" w="sm" len="sm"/>
            <a:tailEnd type="none" w="sm" len="sm"/>
          </a:ln>
        </p:spPr>
      </p:cxnSp>
      <p:sp>
        <p:nvSpPr>
          <p:cNvPr id="77" name="Google Shape;77;p15"/>
          <p:cNvSpPr/>
          <p:nvPr/>
        </p:nvSpPr>
        <p:spPr>
          <a:xfrm>
            <a:off x="1035228" y="3947992"/>
            <a:ext cx="648600" cy="648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04</a:t>
            </a:r>
            <a:endParaRPr sz="1600" b="0" i="0" u="none" strike="noStrike" cap="none">
              <a:solidFill>
                <a:schemeClr val="dk1"/>
              </a:solidFill>
              <a:latin typeface="Montserrat SemiBold"/>
              <a:ea typeface="Montserrat SemiBold"/>
              <a:cs typeface="Montserrat SemiBold"/>
              <a:sym typeface="Montserrat SemiBold"/>
            </a:endParaRPr>
          </a:p>
        </p:txBody>
      </p:sp>
      <p:sp>
        <p:nvSpPr>
          <p:cNvPr id="78" name="Google Shape;78;p15"/>
          <p:cNvSpPr txBox="1"/>
          <p:nvPr/>
        </p:nvSpPr>
        <p:spPr>
          <a:xfrm>
            <a:off x="2008128" y="4033818"/>
            <a:ext cx="5127743"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Scale of Prediction Range</a:t>
            </a:r>
            <a:endParaRPr sz="1600" b="0" i="0" u="none" strike="noStrike" cap="none">
              <a:solidFill>
                <a:schemeClr val="dk1"/>
              </a:solidFill>
              <a:latin typeface="Montserrat SemiBold"/>
              <a:ea typeface="Montserrat SemiBold"/>
              <a:cs typeface="Montserrat SemiBold"/>
              <a:sym typeface="Montserrat SemiBold"/>
            </a:endParaRPr>
          </a:p>
        </p:txBody>
      </p:sp>
      <p:sp>
        <p:nvSpPr>
          <p:cNvPr id="79" name="Google Shape;79;p15"/>
          <p:cNvSpPr txBox="1"/>
          <p:nvPr/>
        </p:nvSpPr>
        <p:spPr>
          <a:xfrm>
            <a:off x="2008126" y="4362116"/>
            <a:ext cx="5127751" cy="5487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100"/>
              <a:buFont typeface="Arial"/>
              <a:buNone/>
            </a:pPr>
            <a:r>
              <a:rPr lang="en-US" sz="1100" b="0" i="1" u="none" strike="noStrike" cap="none">
                <a:solidFill>
                  <a:schemeClr val="dk1"/>
                </a:solidFill>
                <a:latin typeface="Montserrat Medium"/>
                <a:ea typeface="Montserrat Medium"/>
                <a:cs typeface="Montserrat Medium"/>
                <a:sym typeface="Montserrat Medium"/>
              </a:rPr>
              <a:t>Calories in the dataset range from very low to very high values. </a:t>
            </a:r>
            <a:endParaRPr/>
          </a:p>
          <a:p>
            <a:pPr marL="0" marR="0" lvl="0" indent="0" algn="just" rtl="0">
              <a:lnSpc>
                <a:spcPct val="100000"/>
              </a:lnSpc>
              <a:spcBef>
                <a:spcPts val="0"/>
              </a:spcBef>
              <a:spcAft>
                <a:spcPts val="0"/>
              </a:spcAft>
              <a:buClr>
                <a:srgbClr val="000000"/>
              </a:buClr>
              <a:buSzPts val="1100"/>
              <a:buFont typeface="Arial"/>
              <a:buNone/>
            </a:pPr>
            <a:r>
              <a:rPr lang="en-US" sz="1100" b="0" i="1" u="none" strike="noStrike" cap="none">
                <a:solidFill>
                  <a:schemeClr val="dk1"/>
                </a:solidFill>
                <a:latin typeface="Montserrat Medium"/>
                <a:ea typeface="Montserrat Medium"/>
                <a:cs typeface="Montserrat Medium"/>
                <a:sym typeface="Montserrat Medium"/>
              </a:rPr>
              <a:t>The model must be proportionally accurate across this entire range.</a:t>
            </a:r>
            <a:endParaRPr sz="1100" b="0" i="1" u="none" strike="noStrike" cap="none">
              <a:solidFill>
                <a:schemeClr val="dk1"/>
              </a:solidFill>
              <a:latin typeface="Montserrat Medium"/>
              <a:ea typeface="Montserrat Medium"/>
              <a:cs typeface="Montserrat Medium"/>
              <a:sym typeface="Montserrat Medium"/>
            </a:endParaRPr>
          </a:p>
        </p:txBody>
      </p:sp>
      <p:cxnSp>
        <p:nvCxnSpPr>
          <p:cNvPr id="3" name="Google Shape;70;p15">
            <a:extLst>
              <a:ext uri="{FF2B5EF4-FFF2-40B4-BE49-F238E27FC236}">
                <a16:creationId xmlns:a16="http://schemas.microsoft.com/office/drawing/2014/main" id="{3BB1107F-9B00-78D2-1596-08C4BD663E10}"/>
              </a:ext>
            </a:extLst>
          </p:cNvPr>
          <p:cNvCxnSpPr/>
          <p:nvPr/>
        </p:nvCxnSpPr>
        <p:spPr>
          <a:xfrm rot="10800000">
            <a:off x="1683828" y="4243309"/>
            <a:ext cx="215400" cy="0"/>
          </a:xfrm>
          <a:prstGeom prst="straightConnector1">
            <a:avLst/>
          </a:prstGeom>
          <a:noFill/>
          <a:ln w="19050" cap="flat" cmpd="sng">
            <a:solidFill>
              <a:schemeClr val="dk1"/>
            </a:solidFill>
            <a:prstDash val="solid"/>
            <a:round/>
            <a:headEnd type="none" w="sm" len="sm"/>
            <a:tailEnd type="none" w="sm" len="sm"/>
          </a:ln>
        </p:spPr>
      </p:cxnSp>
      <p:sp>
        <p:nvSpPr>
          <p:cNvPr id="5" name="Google Shape;47;p13">
            <a:extLst>
              <a:ext uri="{FF2B5EF4-FFF2-40B4-BE49-F238E27FC236}">
                <a16:creationId xmlns:a16="http://schemas.microsoft.com/office/drawing/2014/main" id="{2D5EFBFC-BC64-6EB6-13B2-89273808B2C3}"/>
              </a:ext>
            </a:extLst>
          </p:cNvPr>
          <p:cNvSpPr txBox="1"/>
          <p:nvPr/>
        </p:nvSpPr>
        <p:spPr>
          <a:xfrm>
            <a:off x="8686800" y="4791809"/>
            <a:ext cx="457200" cy="246181"/>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000" dirty="0">
                <a:latin typeface="Montserrat SemiBold" pitchFamily="2" charset="0"/>
                <a:ea typeface="Montserrat"/>
                <a:cs typeface="Montserrat"/>
                <a:sym typeface="Montserrat"/>
              </a:rPr>
              <a:t>2</a:t>
            </a:r>
            <a:endParaRPr sz="1000" b="0" u="none" strike="noStrike" cap="none" dirty="0">
              <a:solidFill>
                <a:srgbClr val="000000"/>
              </a:solidFill>
              <a:latin typeface="Montserrat SemiBold" pitchFamily="2" charset="0"/>
              <a:ea typeface="Montserrat"/>
              <a:cs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452550" y="194310"/>
            <a:ext cx="8238900" cy="653415"/>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US"/>
              <a:t>Dataset</a:t>
            </a:r>
            <a:br>
              <a:rPr lang="en-US"/>
            </a:br>
            <a:r>
              <a:rPr lang="en-US" sz="1200" b="0" i="1">
                <a:latin typeface="Montserrat Medium"/>
                <a:ea typeface="Montserrat Medium"/>
                <a:cs typeface="Montserrat Medium"/>
                <a:sym typeface="Montserrat Medium"/>
              </a:rPr>
              <a:t>Kaggle Playground Series - Season 5, Episode 5</a:t>
            </a:r>
            <a:endParaRPr sz="1200" b="0" i="1">
              <a:latin typeface="Montserrat Medium"/>
              <a:ea typeface="Montserrat Medium"/>
              <a:cs typeface="Montserrat Medium"/>
              <a:sym typeface="Montserrat Medium"/>
            </a:endParaRPr>
          </a:p>
        </p:txBody>
      </p:sp>
      <p:graphicFrame>
        <p:nvGraphicFramePr>
          <p:cNvPr id="86" name="Google Shape;86;p16"/>
          <p:cNvGraphicFramePr/>
          <p:nvPr/>
        </p:nvGraphicFramePr>
        <p:xfrm>
          <a:off x="1524000" y="1611630"/>
          <a:ext cx="6229350" cy="1920310"/>
        </p:xfrm>
        <a:graphic>
          <a:graphicData uri="http://schemas.openxmlformats.org/drawingml/2006/table">
            <a:tbl>
              <a:tblPr firstRow="1" bandRow="1">
                <a:noFill/>
                <a:tableStyleId>{072BA60B-EF3E-49E8-B907-8F4B1DFF2932}</a:tableStyleId>
              </a:tblPr>
              <a:tblGrid>
                <a:gridCol w="1728725">
                  <a:extLst>
                    <a:ext uri="{9D8B030D-6E8A-4147-A177-3AD203B41FA5}">
                      <a16:colId xmlns:a16="http://schemas.microsoft.com/office/drawing/2014/main" val="20000"/>
                    </a:ext>
                  </a:extLst>
                </a:gridCol>
                <a:gridCol w="4500625">
                  <a:extLst>
                    <a:ext uri="{9D8B030D-6E8A-4147-A177-3AD203B41FA5}">
                      <a16:colId xmlns:a16="http://schemas.microsoft.com/office/drawing/2014/main" val="20001"/>
                    </a:ext>
                  </a:extLst>
                </a:gridCol>
              </a:tblGrid>
              <a:tr h="261250">
                <a:tc>
                  <a:txBody>
                    <a:bodyPr/>
                    <a:lstStyle/>
                    <a:p>
                      <a:pPr marL="0" marR="0" lvl="0" indent="0" algn="l" rtl="0">
                        <a:lnSpc>
                          <a:spcPct val="100000"/>
                        </a:lnSpc>
                        <a:spcBef>
                          <a:spcPts val="0"/>
                        </a:spcBef>
                        <a:spcAft>
                          <a:spcPts val="0"/>
                        </a:spcAft>
                        <a:buNone/>
                      </a:pPr>
                      <a:r>
                        <a:rPr lang="en-US" sz="1200" b="1" u="none" strike="noStrike" cap="none">
                          <a:latin typeface="Montserrat"/>
                          <a:ea typeface="Montserrat"/>
                          <a:cs typeface="Montserrat"/>
                          <a:sym typeface="Montserrat"/>
                        </a:rPr>
                        <a:t>ATTRIBUTE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None/>
                      </a:pPr>
                      <a:r>
                        <a:rPr lang="en-US" sz="1200" b="1" u="none" strike="noStrike" cap="none">
                          <a:latin typeface="Montserrat"/>
                          <a:ea typeface="Montserrat"/>
                          <a:cs typeface="Montserrat"/>
                          <a:sym typeface="Montserrat"/>
                        </a:rPr>
                        <a:t>DETAIL</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Source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Kaggle PS S5E5 (synthetic, based on real exercise data)</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Training samples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~750,000</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Test samples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~250,000</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Features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7 (+ engineered features we will create)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Target</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Calories (continuous)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Missing values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None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 name="Google Shape;47;p13">
            <a:extLst>
              <a:ext uri="{FF2B5EF4-FFF2-40B4-BE49-F238E27FC236}">
                <a16:creationId xmlns:a16="http://schemas.microsoft.com/office/drawing/2014/main" id="{6641A6C7-1C1F-E486-61AA-F2704A4E49C5}"/>
              </a:ext>
            </a:extLst>
          </p:cNvPr>
          <p:cNvSpPr txBox="1"/>
          <p:nvPr/>
        </p:nvSpPr>
        <p:spPr>
          <a:xfrm>
            <a:off x="8686800" y="4791809"/>
            <a:ext cx="457200" cy="246181"/>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000" dirty="0">
                <a:latin typeface="Montserrat SemiBold" pitchFamily="2" charset="0"/>
                <a:ea typeface="Montserrat"/>
                <a:cs typeface="Montserrat"/>
                <a:sym typeface="Montserrat"/>
              </a:rPr>
              <a:t>3</a:t>
            </a:r>
            <a:endParaRPr sz="1000" b="0" u="none" strike="noStrike" cap="none" dirty="0">
              <a:solidFill>
                <a:srgbClr val="000000"/>
              </a:solidFill>
              <a:latin typeface="Montserrat SemiBold" pitchFamily="2" charset="0"/>
              <a:ea typeface="Montserrat"/>
              <a:cs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452550" y="194310"/>
            <a:ext cx="8238900" cy="653415"/>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US"/>
              <a:t>Dataset</a:t>
            </a:r>
            <a:br>
              <a:rPr lang="en-US"/>
            </a:br>
            <a:r>
              <a:rPr lang="en-US" sz="1200" b="0" i="1">
                <a:latin typeface="Montserrat Medium"/>
                <a:ea typeface="Montserrat Medium"/>
                <a:cs typeface="Montserrat Medium"/>
                <a:sym typeface="Montserrat Medium"/>
              </a:rPr>
              <a:t>Kaggle Playground Series - Season 5, Episode 5</a:t>
            </a:r>
            <a:endParaRPr sz="1200" b="0" i="1">
              <a:latin typeface="Montserrat Medium"/>
              <a:ea typeface="Montserrat Medium"/>
              <a:cs typeface="Montserrat Medium"/>
              <a:sym typeface="Montserrat Medium"/>
            </a:endParaRPr>
          </a:p>
        </p:txBody>
      </p:sp>
      <p:graphicFrame>
        <p:nvGraphicFramePr>
          <p:cNvPr id="92" name="Google Shape;92;p17"/>
          <p:cNvGraphicFramePr/>
          <p:nvPr/>
        </p:nvGraphicFramePr>
        <p:xfrm>
          <a:off x="1523999" y="1474470"/>
          <a:ext cx="6229350" cy="2194640"/>
        </p:xfrm>
        <a:graphic>
          <a:graphicData uri="http://schemas.openxmlformats.org/drawingml/2006/table">
            <a:tbl>
              <a:tblPr firstRow="1" bandRow="1">
                <a:noFill/>
                <a:tableStyleId>{072BA60B-EF3E-49E8-B907-8F4B1DFF2932}</a:tableStyleId>
              </a:tblPr>
              <a:tblGrid>
                <a:gridCol w="1743075">
                  <a:extLst>
                    <a:ext uri="{9D8B030D-6E8A-4147-A177-3AD203B41FA5}">
                      <a16:colId xmlns:a16="http://schemas.microsoft.com/office/drawing/2014/main" val="20000"/>
                    </a:ext>
                  </a:extLst>
                </a:gridCol>
                <a:gridCol w="1266825">
                  <a:extLst>
                    <a:ext uri="{9D8B030D-6E8A-4147-A177-3AD203B41FA5}">
                      <a16:colId xmlns:a16="http://schemas.microsoft.com/office/drawing/2014/main" val="20001"/>
                    </a:ext>
                  </a:extLst>
                </a:gridCol>
                <a:gridCol w="3219450">
                  <a:extLst>
                    <a:ext uri="{9D8B030D-6E8A-4147-A177-3AD203B41FA5}">
                      <a16:colId xmlns:a16="http://schemas.microsoft.com/office/drawing/2014/main" val="20002"/>
                    </a:ext>
                  </a:extLst>
                </a:gridCol>
              </a:tblGrid>
              <a:tr h="2286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latin typeface="Montserrat"/>
                          <a:ea typeface="Montserrat"/>
                          <a:cs typeface="Montserrat"/>
                          <a:sym typeface="Montserrat"/>
                        </a:rPr>
                        <a:t>FEATURE</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Montserrat"/>
                          <a:ea typeface="Montserrat"/>
                          <a:cs typeface="Montserrat"/>
                          <a:sym typeface="Montserrat"/>
                        </a:rPr>
                        <a:t>TYPE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Montserrat"/>
                          <a:ea typeface="Montserrat"/>
                          <a:cs typeface="Montserrat"/>
                          <a:sym typeface="Montserrat"/>
                        </a:rPr>
                        <a:t>DESCRIPTION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2286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Sex</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Categorical</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Male / Female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Age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Numerical</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Years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Height</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Numerical</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Centimeters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Weight</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Numerical</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Kilograms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Duration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Numerical</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Exercise duration (minutes)</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286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Heart_Rate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Numerical</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Average bpm</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286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Body_Temp</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Montserrat"/>
                          <a:ea typeface="Montserrat"/>
                          <a:cs typeface="Montserrat"/>
                          <a:sym typeface="Montserrat"/>
                        </a:rPr>
                        <a:t>Numerical</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latin typeface="Montserrat"/>
                          <a:ea typeface="Montserrat"/>
                          <a:cs typeface="Montserrat"/>
                          <a:sym typeface="Montserrat"/>
                        </a:rPr>
                        <a:t>Degrees Celsius</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93" name="Google Shape;93;p17"/>
          <p:cNvSpPr txBox="1"/>
          <p:nvPr/>
        </p:nvSpPr>
        <p:spPr>
          <a:xfrm>
            <a:off x="1523998" y="1007209"/>
            <a:ext cx="6229349"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Montserrat Medium"/>
                <a:ea typeface="Montserrat Medium"/>
                <a:cs typeface="Montserrat Medium"/>
                <a:sym typeface="Montserrat Medium"/>
              </a:rPr>
              <a:t>Feature Breakdown</a:t>
            </a:r>
            <a:endParaRPr/>
          </a:p>
        </p:txBody>
      </p:sp>
      <p:sp>
        <p:nvSpPr>
          <p:cNvPr id="2" name="Google Shape;47;p13">
            <a:extLst>
              <a:ext uri="{FF2B5EF4-FFF2-40B4-BE49-F238E27FC236}">
                <a16:creationId xmlns:a16="http://schemas.microsoft.com/office/drawing/2014/main" id="{4A0DF9CC-C583-C806-D9FE-F05F9BC33CFF}"/>
              </a:ext>
            </a:extLst>
          </p:cNvPr>
          <p:cNvSpPr txBox="1"/>
          <p:nvPr/>
        </p:nvSpPr>
        <p:spPr>
          <a:xfrm>
            <a:off x="8686800" y="4791809"/>
            <a:ext cx="457200" cy="246181"/>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000" dirty="0">
                <a:latin typeface="Montserrat SemiBold" pitchFamily="2" charset="0"/>
                <a:ea typeface="Montserrat"/>
                <a:cs typeface="Montserrat"/>
                <a:sym typeface="Montserrat"/>
              </a:rPr>
              <a:t>4</a:t>
            </a:r>
            <a:endParaRPr sz="1000" b="0" u="none" strike="noStrike" cap="none" dirty="0">
              <a:solidFill>
                <a:srgbClr val="000000"/>
              </a:solidFill>
              <a:latin typeface="Montserrat SemiBold" pitchFamily="2" charset="0"/>
              <a:ea typeface="Montserrat"/>
              <a:cs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sz="2800"/>
              <a:t>Approach &amp; Methods</a:t>
            </a:r>
            <a:endParaRPr sz="2800"/>
          </a:p>
        </p:txBody>
      </p:sp>
      <p:sp>
        <p:nvSpPr>
          <p:cNvPr id="99" name="Google Shape;99;p18"/>
          <p:cNvSpPr txBox="1"/>
          <p:nvPr/>
        </p:nvSpPr>
        <p:spPr>
          <a:xfrm>
            <a:off x="452550" y="1241202"/>
            <a:ext cx="8238900" cy="71169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Montserrat SemiBold"/>
                <a:ea typeface="Montserrat SemiBold"/>
                <a:cs typeface="Montserrat SemiBold"/>
                <a:sym typeface="Montserrat SemiBold"/>
              </a:rPr>
              <a:t>Approach: </a:t>
            </a:r>
            <a:r>
              <a:rPr lang="en-US" sz="1600" b="0" i="0" u="none" strike="noStrike" cap="none" dirty="0">
                <a:solidFill>
                  <a:schemeClr val="dk1"/>
                </a:solidFill>
                <a:latin typeface="Montserrat"/>
                <a:ea typeface="Montserrat"/>
                <a:cs typeface="Montserrat"/>
                <a:sym typeface="Montserrat"/>
              </a:rPr>
              <a:t>Regression, systematically benchmark multiple ML methods under identical conditions and select the best performer.</a:t>
            </a:r>
            <a:endParaRPr dirty="0"/>
          </a:p>
        </p:txBody>
      </p:sp>
      <p:graphicFrame>
        <p:nvGraphicFramePr>
          <p:cNvPr id="100" name="Google Shape;100;p18"/>
          <p:cNvGraphicFramePr/>
          <p:nvPr>
            <p:extLst>
              <p:ext uri="{D42A27DB-BD31-4B8C-83A1-F6EECF244321}">
                <p14:modId xmlns:p14="http://schemas.microsoft.com/office/powerpoint/2010/main" val="1207462895"/>
              </p:ext>
            </p:extLst>
          </p:nvPr>
        </p:nvGraphicFramePr>
        <p:xfrm>
          <a:off x="604825" y="2764426"/>
          <a:ext cx="7934325" cy="1371650"/>
        </p:xfrm>
        <a:graphic>
          <a:graphicData uri="http://schemas.openxmlformats.org/drawingml/2006/table">
            <a:tbl>
              <a:tblPr firstRow="1" bandRow="1">
                <a:noFill/>
                <a:tableStyleId>{072BA60B-EF3E-49E8-B907-8F4B1DFF2932}</a:tableStyleId>
              </a:tblPr>
              <a:tblGrid>
                <a:gridCol w="2201875">
                  <a:extLst>
                    <a:ext uri="{9D8B030D-6E8A-4147-A177-3AD203B41FA5}">
                      <a16:colId xmlns:a16="http://schemas.microsoft.com/office/drawing/2014/main" val="20000"/>
                    </a:ext>
                  </a:extLst>
                </a:gridCol>
                <a:gridCol w="5732450">
                  <a:extLst>
                    <a:ext uri="{9D8B030D-6E8A-4147-A177-3AD203B41FA5}">
                      <a16:colId xmlns:a16="http://schemas.microsoft.com/office/drawing/2014/main" val="20001"/>
                    </a:ext>
                  </a:extLst>
                </a:gridCol>
              </a:tblGrid>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latin typeface="Montserrat" pitchFamily="2" charset="0"/>
                        </a:rPr>
                        <a:t>FAMILY</a:t>
                      </a:r>
                      <a:endParaRPr dirty="0">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latin typeface="Montserrat" pitchFamily="2" charset="0"/>
                        </a:rPr>
                        <a:t>MODELS</a:t>
                      </a:r>
                      <a:endParaRPr b="1" dirty="0">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u="none" strike="noStrike" cap="none">
                          <a:latin typeface="Montserrat" pitchFamily="2" charset="0"/>
                        </a:rPr>
                        <a:t>Linear</a:t>
                      </a:r>
                      <a:endParaRPr>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u="none" strike="noStrike" cap="none" dirty="0">
                          <a:latin typeface="Montserrat" pitchFamily="2" charset="0"/>
                        </a:rPr>
                        <a:t>Linear Regression, Ridge, Lasso, </a:t>
                      </a:r>
                      <a:r>
                        <a:rPr lang="en-US" sz="1200" b="0" u="none" strike="noStrike" cap="none" dirty="0" err="1">
                          <a:latin typeface="Montserrat" pitchFamily="2" charset="0"/>
                        </a:rPr>
                        <a:t>ElasticNet</a:t>
                      </a:r>
                      <a:endParaRPr sz="1200" b="0" u="none" strike="noStrike" cap="none" dirty="0" err="1">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u="none" strike="noStrike" cap="none">
                          <a:latin typeface="Montserrat" pitchFamily="2" charset="0"/>
                        </a:rPr>
                        <a:t>Tree Ensembles</a:t>
                      </a:r>
                      <a:endParaRPr>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u="none" strike="noStrike" cap="none">
                          <a:latin typeface="Montserrat" pitchFamily="2" charset="0"/>
                        </a:rPr>
                        <a:t>Decision Tree, Random Forest, Extra Trees</a:t>
                      </a:r>
                      <a:endParaRPr>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u="none" strike="noStrike" cap="none">
                          <a:latin typeface="Montserrat" pitchFamily="2" charset="0"/>
                        </a:rPr>
                        <a:t>Gradient Boosting</a:t>
                      </a:r>
                      <a:endParaRPr>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u="none" strike="noStrike" cap="none" dirty="0">
                          <a:latin typeface="Montserrat" pitchFamily="2" charset="0"/>
                        </a:rPr>
                        <a:t>Gradient Boosting, </a:t>
                      </a:r>
                      <a:r>
                        <a:rPr lang="en-US" sz="1200" b="0" u="none" strike="noStrike" cap="none" dirty="0" err="1">
                          <a:latin typeface="Montserrat" pitchFamily="2" charset="0"/>
                        </a:rPr>
                        <a:t>XGBoost</a:t>
                      </a:r>
                      <a:r>
                        <a:rPr lang="en-US" sz="1200" b="0" u="none" strike="noStrike" cap="none" dirty="0">
                          <a:latin typeface="Montserrat" pitchFamily="2" charset="0"/>
                        </a:rPr>
                        <a:t>, </a:t>
                      </a:r>
                      <a:r>
                        <a:rPr lang="en-US" sz="1200" b="0" u="none" strike="noStrike" cap="none" dirty="0" err="1">
                          <a:latin typeface="Montserrat" pitchFamily="2" charset="0"/>
                        </a:rPr>
                        <a:t>LightGBM</a:t>
                      </a:r>
                      <a:r>
                        <a:rPr lang="en-US" sz="1200" b="0" u="none" strike="noStrike" cap="none" dirty="0">
                          <a:latin typeface="Montserrat" pitchFamily="2" charset="0"/>
                        </a:rPr>
                        <a:t>, </a:t>
                      </a:r>
                      <a:r>
                        <a:rPr lang="en-US" sz="1200" b="0" u="none" strike="noStrike" cap="none" dirty="0" err="1">
                          <a:latin typeface="Montserrat" pitchFamily="2" charset="0"/>
                        </a:rPr>
                        <a:t>CatBoost</a:t>
                      </a:r>
                      <a:endParaRPr dirty="0" err="1">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6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u="none" strike="noStrike" cap="none">
                          <a:latin typeface="Montserrat" pitchFamily="2" charset="0"/>
                        </a:rPr>
                        <a:t>Instance-Based</a:t>
                      </a:r>
                      <a:endParaRPr>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u="none" strike="noStrike" cap="none" dirty="0">
                          <a:latin typeface="Montserrat" pitchFamily="2" charset="0"/>
                        </a:rPr>
                        <a:t>KNN</a:t>
                      </a:r>
                      <a:endParaRPr dirty="0">
                        <a:latin typeface="Montserrat" pitchFamily="2"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F36A217D-DEC4-1166-A359-4A6DFDFD35FD}"/>
              </a:ext>
            </a:extLst>
          </p:cNvPr>
          <p:cNvSpPr txBox="1"/>
          <p:nvPr/>
        </p:nvSpPr>
        <p:spPr>
          <a:xfrm>
            <a:off x="604825" y="2132853"/>
            <a:ext cx="7934325" cy="492443"/>
          </a:xfrm>
          <a:prstGeom prst="rect">
            <a:avLst/>
          </a:prstGeom>
          <a:noFill/>
        </p:spPr>
        <p:txBody>
          <a:bodyPr wrap="square" anchor="ctr">
            <a:spAutoFit/>
          </a:bodyPr>
          <a:lstStyle/>
          <a:p>
            <a:pPr algn="ctr"/>
            <a:r>
              <a:rPr lang="en-US" sz="1400" b="1" i="0" u="none" strike="noStrike" cap="none" dirty="0">
                <a:solidFill>
                  <a:schemeClr val="dk1"/>
                </a:solidFill>
                <a:latin typeface="Montserrat"/>
                <a:ea typeface="Montserrat"/>
                <a:cs typeface="Montserrat"/>
                <a:sym typeface="Montserrat"/>
              </a:rPr>
              <a:t>Models we Plan to Use </a:t>
            </a:r>
          </a:p>
          <a:p>
            <a:pPr algn="ctr"/>
            <a:r>
              <a:rPr lang="en-US" sz="1200" i="0" u="none" strike="noStrike" cap="none" dirty="0">
                <a:solidFill>
                  <a:schemeClr val="dk1"/>
                </a:solidFill>
                <a:latin typeface="Montserrat"/>
                <a:ea typeface="Montserrat"/>
                <a:cs typeface="Montserrat"/>
                <a:sym typeface="Montserrat"/>
              </a:rPr>
              <a:t>(4 families, 12 models)</a:t>
            </a:r>
            <a:endParaRPr lang="en-US" sz="1200" dirty="0"/>
          </a:p>
        </p:txBody>
      </p:sp>
      <p:sp>
        <p:nvSpPr>
          <p:cNvPr id="4" name="Google Shape;47;p13">
            <a:extLst>
              <a:ext uri="{FF2B5EF4-FFF2-40B4-BE49-F238E27FC236}">
                <a16:creationId xmlns:a16="http://schemas.microsoft.com/office/drawing/2014/main" id="{290F88CC-9D98-C309-B568-A42F535540A7}"/>
              </a:ext>
            </a:extLst>
          </p:cNvPr>
          <p:cNvSpPr txBox="1"/>
          <p:nvPr/>
        </p:nvSpPr>
        <p:spPr>
          <a:xfrm>
            <a:off x="8686800" y="4791809"/>
            <a:ext cx="457200" cy="246181"/>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000" b="0" u="none" strike="noStrike" cap="none" dirty="0">
                <a:solidFill>
                  <a:srgbClr val="000000"/>
                </a:solidFill>
                <a:latin typeface="Montserrat SemiBold" pitchFamily="2" charset="0"/>
                <a:ea typeface="Montserrat"/>
                <a:cs typeface="Montserrat"/>
                <a:sym typeface="Montserrat"/>
              </a:rPr>
              <a:t>5</a:t>
            </a:r>
            <a:endParaRPr sz="1000" b="0" u="none" strike="noStrike" cap="none" dirty="0">
              <a:solidFill>
                <a:srgbClr val="000000"/>
              </a:solidFill>
              <a:latin typeface="Montserrat SemiBold" pitchFamily="2" charset="0"/>
              <a:ea typeface="Montserrat"/>
              <a:cs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sz="2800"/>
              <a:t>Approach &amp; Methods</a:t>
            </a:r>
            <a:endParaRPr sz="2800"/>
          </a:p>
        </p:txBody>
      </p:sp>
      <p:sp>
        <p:nvSpPr>
          <p:cNvPr id="106" name="Google Shape;106;p19"/>
          <p:cNvSpPr txBox="1"/>
          <p:nvPr/>
        </p:nvSpPr>
        <p:spPr>
          <a:xfrm>
            <a:off x="457188" y="1241202"/>
            <a:ext cx="8238899"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Why this Approach?</a:t>
            </a:r>
            <a:endParaRPr/>
          </a:p>
        </p:txBody>
      </p:sp>
      <p:sp>
        <p:nvSpPr>
          <p:cNvPr id="107" name="Google Shape;107;p19"/>
          <p:cNvSpPr txBox="1"/>
          <p:nvPr/>
        </p:nvSpPr>
        <p:spPr>
          <a:xfrm>
            <a:off x="457199" y="1569489"/>
            <a:ext cx="6766561" cy="1430885"/>
          </a:xfrm>
          <a:prstGeom prst="rect">
            <a:avLst/>
          </a:prstGeom>
          <a:noFill/>
          <a:ln>
            <a:noFill/>
          </a:ln>
        </p:spPr>
        <p:txBody>
          <a:bodyPr spcFirstLastPara="1" wrap="square" lIns="91425" tIns="91425" rIns="91425" bIns="91425" anchor="t" anchorCtr="0">
            <a:noAutofit/>
          </a:bodyPr>
          <a:lstStyle/>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dirty="0">
                <a:solidFill>
                  <a:schemeClr val="dk1"/>
                </a:solidFill>
                <a:latin typeface="Montserrat Medium"/>
                <a:ea typeface="Montserrat Medium"/>
                <a:cs typeface="Montserrat Medium"/>
                <a:sym typeface="Montserrat Medium"/>
              </a:rPr>
              <a:t>Linear models establish a baseline and test whether the relationship is approximately linear</a:t>
            </a:r>
            <a:endParaRPr dirty="0"/>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dirty="0">
                <a:solidFill>
                  <a:schemeClr val="dk1"/>
                </a:solidFill>
                <a:latin typeface="Montserrat Medium"/>
                <a:ea typeface="Montserrat Medium"/>
                <a:cs typeface="Montserrat Medium"/>
                <a:sym typeface="Montserrat Medium"/>
              </a:rPr>
              <a:t>Tree ensembles capture nonlinear patterns and feature interactions automatically</a:t>
            </a:r>
            <a:endParaRPr dirty="0"/>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dirty="0">
                <a:solidFill>
                  <a:schemeClr val="dk1"/>
                </a:solidFill>
                <a:latin typeface="Montserrat Medium"/>
                <a:ea typeface="Montserrat Medium"/>
                <a:cs typeface="Montserrat Medium"/>
                <a:sym typeface="Montserrat Medium"/>
              </a:rPr>
              <a:t>Gradient boosting methods are state-of-the-art for tabular regression and expected to perform best</a:t>
            </a:r>
            <a:endParaRPr dirty="0"/>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dirty="0">
                <a:solidFill>
                  <a:schemeClr val="dk1"/>
                </a:solidFill>
                <a:latin typeface="Montserrat Medium"/>
                <a:ea typeface="Montserrat Medium"/>
                <a:cs typeface="Montserrat Medium"/>
                <a:sym typeface="Montserrat Medium"/>
              </a:rPr>
              <a:t>Benchmarking across families reveals how much advanced methods improve over simple ones</a:t>
            </a:r>
            <a:endParaRPr sz="1200" b="0" i="0" u="none" strike="noStrike" cap="none" dirty="0">
              <a:solidFill>
                <a:schemeClr val="dk1"/>
              </a:solidFill>
              <a:latin typeface="Montserrat Medium"/>
              <a:ea typeface="Montserrat Medium"/>
              <a:cs typeface="Montserrat Medium"/>
              <a:sym typeface="Montserrat Medium"/>
            </a:endParaRPr>
          </a:p>
        </p:txBody>
      </p:sp>
      <p:sp>
        <p:nvSpPr>
          <p:cNvPr id="108" name="Google Shape;108;p19"/>
          <p:cNvSpPr txBox="1"/>
          <p:nvPr/>
        </p:nvSpPr>
        <p:spPr>
          <a:xfrm>
            <a:off x="452550" y="3000374"/>
            <a:ext cx="8238899"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Evaluation Framework:</a:t>
            </a:r>
            <a:endParaRPr/>
          </a:p>
        </p:txBody>
      </p:sp>
      <p:sp>
        <p:nvSpPr>
          <p:cNvPr id="109" name="Google Shape;109;p19"/>
          <p:cNvSpPr txBox="1"/>
          <p:nvPr/>
        </p:nvSpPr>
        <p:spPr>
          <a:xfrm>
            <a:off x="452561" y="3328661"/>
            <a:ext cx="6771199" cy="1430885"/>
          </a:xfrm>
          <a:prstGeom prst="rect">
            <a:avLst/>
          </a:prstGeom>
          <a:noFill/>
          <a:ln>
            <a:noFill/>
          </a:ln>
        </p:spPr>
        <p:txBody>
          <a:bodyPr spcFirstLastPara="1" wrap="square" lIns="91425" tIns="91425" rIns="91425" bIns="91425" anchor="t" anchorCtr="0">
            <a:noAutofit/>
          </a:bodyPr>
          <a:lstStyle/>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dirty="0">
                <a:solidFill>
                  <a:schemeClr val="dk1"/>
                </a:solidFill>
                <a:latin typeface="Montserrat Medium"/>
                <a:ea typeface="Montserrat Medium"/>
                <a:cs typeface="Montserrat Medium"/>
                <a:sym typeface="Montserrat Medium"/>
              </a:rPr>
              <a:t>5-Fold Cross-Validation on training data</a:t>
            </a:r>
            <a:endParaRPr dirty="0"/>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dirty="0">
                <a:solidFill>
                  <a:schemeClr val="dk1"/>
                </a:solidFill>
                <a:latin typeface="Montserrat Medium"/>
                <a:ea typeface="Montserrat Medium"/>
                <a:cs typeface="Montserrat Medium"/>
                <a:sym typeface="Montserrat Medium"/>
              </a:rPr>
              <a:t>Primary metric: RMSLE (Root Mean Squared Logarithmic Error) matches the Kaggle competition metric</a:t>
            </a:r>
            <a:endParaRPr dirty="0"/>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dirty="0">
                <a:solidFill>
                  <a:schemeClr val="dk1"/>
                </a:solidFill>
                <a:latin typeface="Montserrat Medium"/>
                <a:ea typeface="Montserrat Medium"/>
                <a:cs typeface="Montserrat Medium"/>
                <a:sym typeface="Montserrat Medium"/>
              </a:rPr>
              <a:t>Secondary metrics: RMSE, MAE</a:t>
            </a:r>
            <a:endParaRPr dirty="0"/>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dirty="0">
                <a:solidFill>
                  <a:schemeClr val="dk1"/>
                </a:solidFill>
                <a:latin typeface="Montserrat Medium"/>
                <a:ea typeface="Montserrat Medium"/>
                <a:cs typeface="Montserrat Medium"/>
                <a:sym typeface="Montserrat Medium"/>
              </a:rPr>
              <a:t>Hyperparameter tuning on the best model via </a:t>
            </a:r>
            <a:r>
              <a:rPr lang="en-US" sz="1200" b="0" i="0" u="none" strike="noStrike" cap="none" dirty="0" err="1">
                <a:solidFill>
                  <a:schemeClr val="dk1"/>
                </a:solidFill>
                <a:latin typeface="Montserrat Medium"/>
                <a:ea typeface="Montserrat Medium"/>
                <a:cs typeface="Montserrat Medium"/>
                <a:sym typeface="Montserrat Medium"/>
              </a:rPr>
              <a:t>RandomizedSearchCV</a:t>
            </a:r>
            <a:endParaRPr sz="1200" b="0" i="0" u="none" strike="noStrike" cap="none" dirty="0">
              <a:solidFill>
                <a:schemeClr val="dk1"/>
              </a:solidFill>
              <a:latin typeface="Montserrat Medium"/>
              <a:ea typeface="Montserrat Medium"/>
              <a:cs typeface="Montserrat Medium"/>
              <a:sym typeface="Montserrat Medium"/>
            </a:endParaRPr>
          </a:p>
        </p:txBody>
      </p:sp>
      <p:sp>
        <p:nvSpPr>
          <p:cNvPr id="2" name="Google Shape;47;p13">
            <a:extLst>
              <a:ext uri="{FF2B5EF4-FFF2-40B4-BE49-F238E27FC236}">
                <a16:creationId xmlns:a16="http://schemas.microsoft.com/office/drawing/2014/main" id="{B85E3E18-7AD4-9845-17FD-36361FB12868}"/>
              </a:ext>
            </a:extLst>
          </p:cNvPr>
          <p:cNvSpPr txBox="1"/>
          <p:nvPr/>
        </p:nvSpPr>
        <p:spPr>
          <a:xfrm>
            <a:off x="8686800" y="4791809"/>
            <a:ext cx="457200" cy="246181"/>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000" b="0" u="none" strike="noStrike" cap="none" dirty="0">
                <a:solidFill>
                  <a:srgbClr val="000000"/>
                </a:solidFill>
                <a:latin typeface="Montserrat SemiBold" pitchFamily="2" charset="0"/>
                <a:ea typeface="Montserrat"/>
                <a:cs typeface="Montserrat"/>
                <a:sym typeface="Montserrat"/>
              </a:rPr>
              <a:t>6</a:t>
            </a:r>
            <a:endParaRPr sz="1000" b="0" u="none" strike="noStrike" cap="none" dirty="0">
              <a:solidFill>
                <a:srgbClr val="000000"/>
              </a:solidFill>
              <a:latin typeface="Montserrat SemiBold" pitchFamily="2" charset="0"/>
              <a:ea typeface="Montserrat"/>
              <a:cs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US" sz="2800"/>
              <a:t>Evaluation Plan &amp; Expected Outcome</a:t>
            </a:r>
            <a:endParaRPr sz="2800"/>
          </a:p>
        </p:txBody>
      </p:sp>
      <p:sp>
        <p:nvSpPr>
          <p:cNvPr id="115" name="Google Shape;115;p20"/>
          <p:cNvSpPr txBox="1"/>
          <p:nvPr/>
        </p:nvSpPr>
        <p:spPr>
          <a:xfrm>
            <a:off x="457188" y="1241202"/>
            <a:ext cx="8238899"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Montserrat SemiBold"/>
                <a:ea typeface="Montserrat SemiBold"/>
                <a:cs typeface="Montserrat SemiBold"/>
                <a:sym typeface="Montserrat SemiBold"/>
              </a:rPr>
              <a:t>Deliverables:</a:t>
            </a:r>
            <a:endParaRPr/>
          </a:p>
        </p:txBody>
      </p:sp>
      <p:sp>
        <p:nvSpPr>
          <p:cNvPr id="116" name="Google Shape;116;p20"/>
          <p:cNvSpPr txBox="1"/>
          <p:nvPr/>
        </p:nvSpPr>
        <p:spPr>
          <a:xfrm>
            <a:off x="457199" y="1569490"/>
            <a:ext cx="7080072" cy="725958"/>
          </a:xfrm>
          <a:prstGeom prst="rect">
            <a:avLst/>
          </a:prstGeom>
          <a:noFill/>
          <a:ln>
            <a:noFill/>
          </a:ln>
        </p:spPr>
        <p:txBody>
          <a:bodyPr spcFirstLastPara="1" wrap="square" lIns="91425" tIns="91425" rIns="91425" bIns="91425" anchor="t" anchorCtr="0">
            <a:noAutofit/>
          </a:bodyPr>
          <a:lstStyle/>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Ranked benchmarking table (all 12 models by RMSLE)</a:t>
            </a:r>
            <a:endParaRPr/>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Feature importance analysis from the best model</a:t>
            </a:r>
            <a:endParaRPr/>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Optimized final model with tuned hyperparameters</a:t>
            </a:r>
            <a:endParaRPr sz="1200" b="0" i="0" u="none" strike="noStrike" cap="none">
              <a:solidFill>
                <a:schemeClr val="dk1"/>
              </a:solidFill>
              <a:latin typeface="Montserrat Medium"/>
              <a:ea typeface="Montserrat Medium"/>
              <a:cs typeface="Montserrat Medium"/>
              <a:sym typeface="Montserrat Medium"/>
            </a:endParaRPr>
          </a:p>
        </p:txBody>
      </p:sp>
      <p:sp>
        <p:nvSpPr>
          <p:cNvPr id="117" name="Google Shape;117;p20"/>
          <p:cNvSpPr txBox="1"/>
          <p:nvPr/>
        </p:nvSpPr>
        <p:spPr>
          <a:xfrm>
            <a:off x="447902" y="2295448"/>
            <a:ext cx="8238899" cy="4368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Montserrat SemiBold"/>
                <a:ea typeface="Montserrat SemiBold"/>
                <a:cs typeface="Montserrat SemiBold"/>
                <a:sym typeface="Montserrat SemiBold"/>
              </a:rPr>
              <a:t>What we Expect to Find</a:t>
            </a:r>
            <a:r>
              <a:rPr lang="en-US" sz="1600" dirty="0">
                <a:solidFill>
                  <a:schemeClr val="dk1"/>
                </a:solidFill>
                <a:latin typeface="Montserrat SemiBold"/>
                <a:ea typeface="Montserrat SemiBold"/>
                <a:cs typeface="Montserrat SemiBold"/>
                <a:sym typeface="Montserrat SemiBold"/>
              </a:rPr>
              <a:t>:</a:t>
            </a:r>
            <a:endParaRPr dirty="0"/>
          </a:p>
        </p:txBody>
      </p:sp>
      <p:sp>
        <p:nvSpPr>
          <p:cNvPr id="118" name="Google Shape;118;p20"/>
          <p:cNvSpPr txBox="1"/>
          <p:nvPr/>
        </p:nvSpPr>
        <p:spPr>
          <a:xfrm>
            <a:off x="447913" y="2623736"/>
            <a:ext cx="7080072" cy="725958"/>
          </a:xfrm>
          <a:prstGeom prst="rect">
            <a:avLst/>
          </a:prstGeom>
          <a:noFill/>
          <a:ln>
            <a:noFill/>
          </a:ln>
        </p:spPr>
        <p:txBody>
          <a:bodyPr spcFirstLastPara="1" wrap="square" lIns="91425" tIns="91425" rIns="91425" bIns="91425" anchor="t" anchorCtr="0">
            <a:noAutofit/>
          </a:bodyPr>
          <a:lstStyle/>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Gradient boosting models (XGBoost, LightGBM, CatBoost) will likely lead</a:t>
            </a:r>
            <a:endParaRPr/>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Engineered features (BMI, Duration×HeartRate) will rank high in importance</a:t>
            </a:r>
            <a:endParaRPr/>
          </a:p>
          <a:p>
            <a:pPr marL="171450" marR="0" lvl="0" indent="-171450" algn="just" rtl="0">
              <a:lnSpc>
                <a:spcPct val="100000"/>
              </a:lnSpc>
              <a:spcBef>
                <a:spcPts val="0"/>
              </a:spcBef>
              <a:spcAft>
                <a:spcPts val="0"/>
              </a:spcAft>
              <a:buClr>
                <a:srgbClr val="000000"/>
              </a:buClr>
              <a:buSzPts val="1200"/>
              <a:buFont typeface="Arial"/>
              <a:buChar char="•"/>
            </a:pPr>
            <a:r>
              <a:rPr lang="en-US" sz="1200" b="0" i="0" u="none" strike="noStrike" cap="none">
                <a:solidFill>
                  <a:schemeClr val="dk1"/>
                </a:solidFill>
                <a:latin typeface="Montserrat Medium"/>
                <a:ea typeface="Montserrat Medium"/>
                <a:cs typeface="Montserrat Medium"/>
                <a:sym typeface="Montserrat Medium"/>
              </a:rPr>
              <a:t>Linear models will establish a useful but limited baseline</a:t>
            </a:r>
            <a:endParaRPr sz="1200" b="0" i="0" u="none" strike="noStrike" cap="none">
              <a:solidFill>
                <a:schemeClr val="dk1"/>
              </a:solidFill>
              <a:latin typeface="Montserrat Medium"/>
              <a:ea typeface="Montserrat Medium"/>
              <a:cs typeface="Montserrat Medium"/>
              <a:sym typeface="Montserrat Medium"/>
            </a:endParaRPr>
          </a:p>
        </p:txBody>
      </p:sp>
      <p:sp>
        <p:nvSpPr>
          <p:cNvPr id="2" name="Google Shape;47;p13">
            <a:extLst>
              <a:ext uri="{FF2B5EF4-FFF2-40B4-BE49-F238E27FC236}">
                <a16:creationId xmlns:a16="http://schemas.microsoft.com/office/drawing/2014/main" id="{3095B28D-7035-4693-0A07-FA410A4A494C}"/>
              </a:ext>
            </a:extLst>
          </p:cNvPr>
          <p:cNvSpPr txBox="1"/>
          <p:nvPr/>
        </p:nvSpPr>
        <p:spPr>
          <a:xfrm>
            <a:off x="8686800" y="4791809"/>
            <a:ext cx="457200" cy="246181"/>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000" dirty="0">
                <a:latin typeface="Montserrat SemiBold" pitchFamily="2" charset="0"/>
                <a:ea typeface="Montserrat"/>
                <a:cs typeface="Montserrat"/>
                <a:sym typeface="Montserrat"/>
              </a:rPr>
              <a:t>7</a:t>
            </a:r>
            <a:endParaRPr sz="1000" b="0" u="none" strike="noStrike" cap="none" dirty="0">
              <a:solidFill>
                <a:srgbClr val="000000"/>
              </a:solidFill>
              <a:latin typeface="Montserrat SemiBold" pitchFamily="2" charset="0"/>
              <a:ea typeface="Montserrat"/>
              <a:cs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ctrTitle"/>
          </p:nvPr>
        </p:nvSpPr>
        <p:spPr>
          <a:xfrm>
            <a:off x="0" y="0"/>
            <a:ext cx="9144000" cy="451485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200"/>
              <a:buNone/>
            </a:pPr>
            <a:r>
              <a:rPr lang="en-US" sz="6000" i="1" dirty="0"/>
              <a:t>Thank You!</a:t>
            </a:r>
          </a:p>
        </p:txBody>
      </p:sp>
      <p:sp>
        <p:nvSpPr>
          <p:cNvPr id="124" name="Google Shape;124;p21"/>
          <p:cNvSpPr txBox="1"/>
          <p:nvPr/>
        </p:nvSpPr>
        <p:spPr>
          <a:xfrm>
            <a:off x="1" y="3495675"/>
            <a:ext cx="9144000" cy="62865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200"/>
              <a:buFont typeface="Montserrat"/>
              <a:buNone/>
            </a:pPr>
            <a:r>
              <a:rPr lang="en-US" sz="1000" b="1" i="1" u="none" strike="noStrike" cap="none" dirty="0">
                <a:solidFill>
                  <a:schemeClr val="dk1"/>
                </a:solidFill>
                <a:latin typeface="Montserrat"/>
                <a:ea typeface="Montserrat"/>
                <a:cs typeface="Montserrat"/>
                <a:sym typeface="Montserrat"/>
              </a:rPr>
              <a:t>Keith Fernandes </a:t>
            </a:r>
            <a:endParaRPr dirty="0"/>
          </a:p>
          <a:p>
            <a:pPr marL="0" marR="0" lvl="0" indent="0" algn="ctr" rtl="0">
              <a:lnSpc>
                <a:spcPct val="100000"/>
              </a:lnSpc>
              <a:spcBef>
                <a:spcPts val="0"/>
              </a:spcBef>
              <a:spcAft>
                <a:spcPts val="0"/>
              </a:spcAft>
              <a:buClr>
                <a:schemeClr val="dk1"/>
              </a:buClr>
              <a:buSzPts val="1200"/>
              <a:buFont typeface="Montserrat"/>
              <a:buNone/>
            </a:pPr>
            <a:r>
              <a:rPr lang="en-US" sz="1000" b="0" i="1" u="sng" strike="noStrike" cap="none" dirty="0">
                <a:solidFill>
                  <a:schemeClr val="hlink"/>
                </a:solidFill>
                <a:latin typeface="Montserrat"/>
                <a:ea typeface="Montserrat"/>
                <a:cs typeface="Montserrat"/>
                <a:sym typeface="Montserrat"/>
                <a:hlinkClick r:id="rId3"/>
              </a:rPr>
              <a:t>fernandes.kei@northeastern.edu</a:t>
            </a:r>
            <a:r>
              <a:rPr lang="en-US" sz="1000" b="0" i="1" u="none" strike="noStrike" cap="none" dirty="0">
                <a:solidFill>
                  <a:schemeClr val="dk1"/>
                </a:solidFill>
                <a:latin typeface="Montserrat"/>
                <a:ea typeface="Montserrat"/>
                <a:cs typeface="Montserrat"/>
                <a:sym typeface="Montserrat"/>
              </a:rPr>
              <a:t>  </a:t>
            </a:r>
          </a:p>
          <a:p>
            <a:pPr marL="0" marR="0" lvl="0" indent="0" algn="ctr" rtl="0">
              <a:lnSpc>
                <a:spcPct val="100000"/>
              </a:lnSpc>
              <a:spcBef>
                <a:spcPts val="0"/>
              </a:spcBef>
              <a:spcAft>
                <a:spcPts val="0"/>
              </a:spcAft>
              <a:buClr>
                <a:schemeClr val="dk1"/>
              </a:buClr>
              <a:buSzPts val="1200"/>
              <a:buFont typeface="Montserrat"/>
              <a:buNone/>
            </a:pPr>
            <a:endParaRPr sz="600" dirty="0"/>
          </a:p>
          <a:p>
            <a:pPr marL="0" marR="0" lvl="0" indent="0" algn="ctr" rtl="0">
              <a:lnSpc>
                <a:spcPct val="100000"/>
              </a:lnSpc>
              <a:spcBef>
                <a:spcPts val="0"/>
              </a:spcBef>
              <a:spcAft>
                <a:spcPts val="0"/>
              </a:spcAft>
              <a:buClr>
                <a:schemeClr val="dk1"/>
              </a:buClr>
              <a:buSzPts val="1200"/>
              <a:buFont typeface="Montserrat"/>
              <a:buNone/>
            </a:pPr>
            <a:r>
              <a:rPr lang="en-US" sz="1000" b="1" i="1" u="none" strike="noStrike" cap="none" dirty="0">
                <a:solidFill>
                  <a:schemeClr val="dk1"/>
                </a:solidFill>
                <a:latin typeface="Montserrat"/>
                <a:ea typeface="Montserrat"/>
                <a:cs typeface="Montserrat"/>
                <a:sym typeface="Montserrat"/>
              </a:rPr>
              <a:t>Shreyans Jain</a:t>
            </a:r>
            <a:endParaRPr dirty="0"/>
          </a:p>
          <a:p>
            <a:pPr marL="0" marR="0" lvl="0" indent="0" algn="ctr" rtl="0">
              <a:lnSpc>
                <a:spcPct val="100000"/>
              </a:lnSpc>
              <a:spcBef>
                <a:spcPts val="0"/>
              </a:spcBef>
              <a:spcAft>
                <a:spcPts val="0"/>
              </a:spcAft>
              <a:buClr>
                <a:schemeClr val="dk1"/>
              </a:buClr>
              <a:buSzPts val="1200"/>
              <a:buFont typeface="Montserrat"/>
              <a:buNone/>
            </a:pPr>
            <a:r>
              <a:rPr lang="en-US" sz="1000" b="0" i="1" u="sng" strike="noStrike" cap="none" dirty="0">
                <a:solidFill>
                  <a:schemeClr val="hlink"/>
                </a:solidFill>
                <a:latin typeface="Montserrat"/>
                <a:ea typeface="Montserrat"/>
                <a:cs typeface="Montserrat"/>
                <a:sym typeface="Montserrat"/>
                <a:hlinkClick r:id="rId4"/>
              </a:rPr>
              <a:t>jain.shreyans@northeastern.edu</a:t>
            </a:r>
            <a:r>
              <a:rPr lang="en-US" sz="1000" b="0" i="1" u="none" strike="noStrike" cap="none" dirty="0">
                <a:solidFill>
                  <a:srgbClr val="0070C0"/>
                </a:solidFill>
                <a:latin typeface="Montserrat"/>
                <a:ea typeface="Montserrat"/>
                <a:cs typeface="Montserrat"/>
                <a:sym typeface="Montserrat"/>
              </a:rPr>
              <a:t> </a:t>
            </a:r>
            <a:endParaRPr dirty="0"/>
          </a:p>
        </p:txBody>
      </p:sp>
      <p:sp>
        <p:nvSpPr>
          <p:cNvPr id="125" name="Google Shape;125;p21"/>
          <p:cNvSpPr txBox="1"/>
          <p:nvPr/>
        </p:nvSpPr>
        <p:spPr>
          <a:xfrm>
            <a:off x="2286000" y="0"/>
            <a:ext cx="4572000"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endParaRPr sz="1100" b="0" i="1" u="none" strike="noStrike" cap="none" dirty="0">
              <a:solidFill>
                <a:srgbClr val="000000"/>
              </a:solidFill>
              <a:latin typeface="Montserrat"/>
              <a:ea typeface="Montserrat"/>
              <a:cs typeface="Montserrat"/>
              <a:sym typeface="Montserrat"/>
            </a:endParaRPr>
          </a:p>
          <a:p>
            <a:pPr marL="0" marR="0" lvl="0" indent="0" algn="ctr" rtl="0">
              <a:lnSpc>
                <a:spcPct val="100000"/>
              </a:lnSpc>
              <a:spcBef>
                <a:spcPts val="0"/>
              </a:spcBef>
              <a:spcAft>
                <a:spcPts val="0"/>
              </a:spcAft>
              <a:buNone/>
            </a:pPr>
            <a:r>
              <a:rPr lang="en-US" sz="1100" b="0" i="1" u="none" strike="noStrike" cap="none" dirty="0">
                <a:solidFill>
                  <a:srgbClr val="000000"/>
                </a:solidFill>
                <a:latin typeface="Montserrat"/>
                <a:ea typeface="Montserrat"/>
                <a:cs typeface="Montserrat"/>
                <a:sym typeface="Montserrat"/>
              </a:rPr>
              <a:t>CS6410 - Machine Learning</a:t>
            </a:r>
            <a:endParaRPr sz="1100" b="0" i="1" u="none" strike="noStrike" cap="none" dirty="0">
              <a:solidFill>
                <a:srgbClr val="000000"/>
              </a:solidFill>
              <a:latin typeface="Montserrat"/>
              <a:ea typeface="Montserrat"/>
              <a:cs typeface="Montserrat"/>
              <a:sym typeface="Montserrat"/>
            </a:endParaRP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Art Infographic by Slidesgo">
  <a:themeElements>
    <a:clrScheme name="Simple Light">
      <a:dk1>
        <a:srgbClr val="000000"/>
      </a:dk1>
      <a:lt1>
        <a:srgbClr val="FFFFFF"/>
      </a:lt1>
      <a:dk2>
        <a:srgbClr val="F3E7D8"/>
      </a:dk2>
      <a:lt2>
        <a:srgbClr val="F8B3CC"/>
      </a:lt2>
      <a:accent1>
        <a:srgbClr val="ED583F"/>
      </a:accent1>
      <a:accent2>
        <a:srgbClr val="F2A53D"/>
      </a:accent2>
      <a:accent3>
        <a:srgbClr val="C6B663"/>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971</Words>
  <Application>Microsoft Office PowerPoint</Application>
  <PresentationFormat>On-screen Show (16:9)</PresentationFormat>
  <Paragraphs>130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Montserrat SemiBold</vt:lpstr>
      <vt:lpstr>Fira Sans Extra Condensed</vt:lpstr>
      <vt:lpstr>Montserrat</vt:lpstr>
      <vt:lpstr>Montserrat Medium</vt:lpstr>
      <vt:lpstr>Art Infographic by Slidesgo</vt:lpstr>
      <vt:lpstr>Predicting Calorie Expenditure During Exercise</vt:lpstr>
      <vt:lpstr>Problem &amp; Why It Matters</vt:lpstr>
      <vt:lpstr>Key Challenges We Need To Address:</vt:lpstr>
      <vt:lpstr>Dataset Kaggle Playground Series - Season 5, Episode 5</vt:lpstr>
      <vt:lpstr>Dataset Kaggle Playground Series - Season 5, Episode 5</vt:lpstr>
      <vt:lpstr>Approach &amp; Methods</vt:lpstr>
      <vt:lpstr>Approach &amp; Methods</vt:lpstr>
      <vt:lpstr>Evaluation Plan &amp; Expected Outcome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Keith Fernandes</cp:lastModifiedBy>
  <cp:revision>25</cp:revision>
  <dcterms:modified xsi:type="dcterms:W3CDTF">2026-03-10T19:58:16Z</dcterms:modified>
</cp:coreProperties>
</file>